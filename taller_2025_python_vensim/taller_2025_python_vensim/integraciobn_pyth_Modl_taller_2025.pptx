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1" r:id="rId2"/>
    <p:sldId id="324" r:id="rId3"/>
    <p:sldId id="325" r:id="rId4"/>
    <p:sldId id="326" r:id="rId5"/>
    <p:sldId id="327" r:id="rId6"/>
    <p:sldId id="328" r:id="rId7"/>
    <p:sldId id="329" r:id="rId8"/>
    <p:sldId id="322" r:id="rId9"/>
    <p:sldId id="323" r:id="rId10"/>
    <p:sldId id="262" r:id="rId11"/>
    <p:sldId id="330" r:id="rId12"/>
    <p:sldId id="258" r:id="rId13"/>
    <p:sldId id="331" r:id="rId14"/>
    <p:sldId id="256" r:id="rId15"/>
    <p:sldId id="320" r:id="rId16"/>
    <p:sldId id="257" r:id="rId17"/>
    <p:sldId id="261" r:id="rId18"/>
    <p:sldId id="260" r:id="rId19"/>
    <p:sldId id="259" r:id="rId20"/>
    <p:sldId id="263" r:id="rId21"/>
    <p:sldId id="314" r:id="rId22"/>
    <p:sldId id="297" r:id="rId23"/>
    <p:sldId id="312" r:id="rId24"/>
    <p:sldId id="313" r:id="rId25"/>
    <p:sldId id="264" r:id="rId26"/>
    <p:sldId id="315" r:id="rId27"/>
    <p:sldId id="318" r:id="rId28"/>
    <p:sldId id="319" r:id="rId29"/>
    <p:sldId id="317" r:id="rId30"/>
    <p:sldId id="316" r:id="rId31"/>
    <p:sldId id="334" r:id="rId32"/>
    <p:sldId id="335" r:id="rId33"/>
    <p:sldId id="336" r:id="rId34"/>
    <p:sldId id="337" r:id="rId35"/>
    <p:sldId id="333" r:id="rId36"/>
    <p:sldId id="332" r:id="rId37"/>
    <p:sldId id="338" r:id="rId3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65EC38-A7DD-4301-861C-8F830C0FEE6F}" type="doc">
      <dgm:prSet loTypeId="urn:microsoft.com/office/officeart/2005/8/layout/hList6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94F4706-3D88-41CC-90FA-1019D40A0510}" type="pres">
      <dgm:prSet presAssocID="{3365EC38-A7DD-4301-861C-8F830C0FEE6F}" presName="Name0" presStyleCnt="0">
        <dgm:presLayoutVars>
          <dgm:dir/>
          <dgm:resizeHandles val="exact"/>
        </dgm:presLayoutVars>
      </dgm:prSet>
      <dgm:spPr/>
    </dgm:pt>
  </dgm:ptLst>
  <dgm:cxnLst>
    <dgm:cxn modelId="{35758881-C181-440B-962F-0CDAF0948607}" type="presOf" srcId="{3365EC38-A7DD-4301-861C-8F830C0FEE6F}" destId="{894F4706-3D88-41CC-90FA-1019D40A0510}" srcOrd="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50C4E-9895-4385-AFAA-3E089639A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DA791-76E2-4B03-9439-FB83ADF5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833F0D-DCEA-4DAC-BBCE-DCA3FCBA2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474B81-7A9C-4E6C-99F3-97D26AE9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ABC54D-8063-414A-8D5E-34B32FB7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84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4FF6C-92D3-41E3-812C-99E43D62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ABB09-A540-4044-9521-E96AF1EB4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DD0915-0D6D-486D-BC0C-7BBDAB74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3DF5E4-8BAE-4502-9F53-B21A3A33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7F8806-F12F-44BC-87A7-21A44788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5390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4DFEA-39C0-41B0-B9B7-C54C6FC72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7B4F3F-FBC2-477E-9084-8DBF47075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64A7A6-90A2-4EEB-8F0F-6A8F2E42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EB8B5E-401C-4AA6-88FF-0E5F33CA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418BA7-4BD2-4603-BAFB-C090FCC17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9997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CCC97-2C7C-4DD1-83C6-906F05D88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6B09C4-34E5-4112-95CA-6DE15980E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31BAAD-35D8-4797-A47F-881F65CB3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F9E94A-3F2D-450B-A7B2-D3F142CA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658DE8-10E9-4A01-AA4C-AEF6506A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00B493-C70C-43C3-8572-D2285874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16522-6BCD-45ED-8E72-8FD7CD79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8E53AB-2960-4DE2-92F7-EA15F7B33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BEE4B9-551E-44B6-A9FE-B82BB3E4C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8EB9A0-2262-484A-A44B-447F28F25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C1B1F3-1523-421B-8919-38FF9AB5F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2054F5-37FC-4C54-B17B-527C14393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C599966-4914-44D1-9EBA-A00C14D9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5EB899-A537-486D-9122-81F174D40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8677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D430D-E58D-4876-AD64-1AC5A08F6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1C1AF48-586B-47AD-88A1-D80C284F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4646C7-1C81-4EE3-A575-08CA6EC9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05862E-F7A9-43F2-B2CE-B30F9488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313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303659-3A31-456F-B053-DB6ED8FA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0FCA15A-B26F-48D5-A3F8-BC979333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C71A5E-3DCC-41A1-A77A-51EC9E77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991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AE810-80D9-4463-B91B-D1503D2D6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91229E-E393-4D52-82D5-969125690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D98FF5-E0D0-4B16-AAB1-2BFF90C19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3FB11E-4E42-45D7-B1EF-B18ABE8B0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483AEF-87ED-4C87-8B23-96F88EE23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445902-3C00-42FD-9E26-70A538D0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768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3525F-EC46-444B-92C4-95EFD343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E0ECF05-184A-4909-B2C3-475A8B584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5BBE47-8790-4AEA-8280-FB0A8CBD7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A8F5D3-3EC1-4FCE-B026-CB1CCAA86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BD7DD3-A2B1-473B-BD02-CA0A0DEEE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F65598-33A8-4E5F-98C4-0A83FFE3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9404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0BCF8-D385-4E0D-9E59-93629F7C3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C62C24-C71E-4B2F-BCCC-27275B779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13AD1-589E-4028-91AD-2EC17353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BA9E98-69DB-43EF-8321-40B54B98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2B1369-75AE-4DEA-A205-055304A3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209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9D37F4-D690-45CB-977E-87B3EED82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883E95-C1B8-4BDA-95D7-A881D7117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2E8106-BA55-4074-BC0E-EB91E55B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2A79B3-E5FA-4E9F-92D1-0D1386A6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6FE392-5D81-42A8-8F5C-AB631EB5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536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l equip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posición de imagen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s-ES" noProof="0"/>
              <a:t>Haga clic en el icono para agregar una imagen</a:t>
            </a:r>
          </a:p>
        </p:txBody>
      </p:sp>
      <p:sp>
        <p:nvSpPr>
          <p:cNvPr id="8" name="Marcador de posición de imagen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posición de imagen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7" name="Marcador de texto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0" name="Marcador de texto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2" name="Marcador de texto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4" name="Marcador de fecha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25" name="Marcador de pie de página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26" name="Marcador de número de diapositiva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2642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5EDDEC-B108-4727-97EE-9ED838A0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99C379-D173-47FF-8286-70829F588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FE7237-5A54-4BB2-8B26-D9A930BA9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C6189-C2A3-45AD-86B3-0EF4F75BA827}" type="datetimeFigureOut">
              <a:rPr lang="es-PE" smtClean="0"/>
              <a:t>28/05/2025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1AF92A-F4D9-4892-AA9A-8082EA077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40362F-D0E9-4716-AC50-7B749400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0F3F7-4B3C-42D2-9397-4583C6E7B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2258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jpe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jpeg"/><Relationship Id="rId2" Type="http://schemas.openxmlformats.org/officeDocument/2006/relationships/image" Target="../media/image23.png"/><Relationship Id="rId16" Type="http://schemas.openxmlformats.org/officeDocument/2006/relationships/image" Target="../media/image37.jpe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jpe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6.png"/><Relationship Id="rId7" Type="http://schemas.openxmlformats.org/officeDocument/2006/relationships/image" Target="../media/image32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28.png"/><Relationship Id="rId5" Type="http://schemas.openxmlformats.org/officeDocument/2006/relationships/image" Target="../media/image35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6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6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59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58.png"/><Relationship Id="rId4" Type="http://schemas.openxmlformats.org/officeDocument/2006/relationships/diagramData" Target="../diagrams/data1.xml"/><Relationship Id="rId9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26" y="-84909"/>
            <a:ext cx="12218126" cy="702781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4C291AE-8FBF-4C16-96CD-CCA2638DF391}"/>
              </a:ext>
            </a:extLst>
          </p:cNvPr>
          <p:cNvSpPr/>
          <p:nvPr/>
        </p:nvSpPr>
        <p:spPr>
          <a:xfrm>
            <a:off x="363983" y="340729"/>
            <a:ext cx="10801607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Tecnicas</a:t>
            </a:r>
            <a:endParaRPr lang="es-ES" sz="5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1.- Simulación nativa en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stella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y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Vensim</a:t>
            </a:r>
            <a:endParaRPr lang="es-ES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352B82-FF13-401C-98D7-EF11A8F18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23" y="2437097"/>
            <a:ext cx="3054141" cy="206523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AE9F7F3-4DF4-485E-A6B2-1A7C04004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913" y="1964268"/>
            <a:ext cx="3325033" cy="213490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7023C6C-D853-4B89-A340-F7BD0B772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511" y="1872340"/>
            <a:ext cx="1651389" cy="262999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CBCF6F8-84EC-44D0-9C43-294AE4501E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980" y="1964268"/>
            <a:ext cx="2860649" cy="306498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0FBF482-6A23-46A1-B74C-77C8FC6E34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0406" y="4502330"/>
            <a:ext cx="2689433" cy="224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34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26" y="-136707"/>
            <a:ext cx="12218126" cy="702781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4C291AE-8FBF-4C16-96CD-CCA2638DF391}"/>
              </a:ext>
            </a:extLst>
          </p:cNvPr>
          <p:cNvSpPr/>
          <p:nvPr/>
        </p:nvSpPr>
        <p:spPr>
          <a:xfrm>
            <a:off x="363983" y="340729"/>
            <a:ext cx="10801607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2.- Simulación 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stella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,  Excel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Bae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de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datos,Python,usuario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crea la BD</a:t>
            </a:r>
          </a:p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352B82-FF13-401C-98D7-EF11A8F18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5" y="2504794"/>
            <a:ext cx="1915365" cy="206523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CBCF6F8-84EC-44D0-9C43-294AE4501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344" y="2360100"/>
            <a:ext cx="1771650" cy="271198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0FBF482-6A23-46A1-B74C-77C8FC6E3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4565" y="2447097"/>
            <a:ext cx="1915365" cy="224676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FAF88E6-62E9-4F61-ABF7-1B027E6F6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7562" y="2479265"/>
            <a:ext cx="1847850" cy="224676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BC50672-7BF7-448D-9083-D1D7215F87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444" y="2623685"/>
            <a:ext cx="1885950" cy="218481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8795CD-28EB-4BC4-B62A-FEA2CA09B3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8090" y="2850522"/>
            <a:ext cx="2087442" cy="205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45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26" y="-136707"/>
            <a:ext cx="12218126" cy="702781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4C291AE-8FBF-4C16-96CD-CCA2638DF391}"/>
              </a:ext>
            </a:extLst>
          </p:cNvPr>
          <p:cNvSpPr/>
          <p:nvPr/>
        </p:nvSpPr>
        <p:spPr>
          <a:xfrm>
            <a:off x="363983" y="340729"/>
            <a:ext cx="10801607" cy="1908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3.- Simulación 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stella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, submodelos</a:t>
            </a:r>
          </a:p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CBCF6F8-84EC-44D0-9C43-294AE4501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5344" y="2360100"/>
            <a:ext cx="1771650" cy="271198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FAF88E6-62E9-4F61-ABF7-1B027E6F6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62" y="2479265"/>
            <a:ext cx="1847850" cy="224676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BC50672-7BF7-448D-9083-D1D7215F8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444" y="2623685"/>
            <a:ext cx="1885950" cy="218481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8795CD-28EB-4BC4-B62A-FEA2CA09B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8090" y="2850522"/>
            <a:ext cx="2087442" cy="205377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135737A-590B-459C-8F51-59162FC2FF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911" y="1626398"/>
            <a:ext cx="3984635" cy="395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5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26" y="-136707"/>
            <a:ext cx="12218126" cy="702781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4C291AE-8FBF-4C16-96CD-CCA2638DF391}"/>
              </a:ext>
            </a:extLst>
          </p:cNvPr>
          <p:cNvSpPr/>
          <p:nvPr/>
        </p:nvSpPr>
        <p:spPr>
          <a:xfrm>
            <a:off x="363983" y="340729"/>
            <a:ext cx="10801607" cy="1908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4.- Simulación 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Vensim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, submodelos</a:t>
            </a:r>
          </a:p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CBCF6F8-84EC-44D0-9C43-294AE4501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367" y="1958950"/>
            <a:ext cx="1771650" cy="271198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FAF88E6-62E9-4F61-ABF7-1B027E6F6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62" y="2479265"/>
            <a:ext cx="1847850" cy="224676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8795CD-28EB-4BC4-B62A-FEA2CA09B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628" y="2176164"/>
            <a:ext cx="2087442" cy="205377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5650DB-D3AA-4F5D-BA42-A2178526A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936" y="1294836"/>
            <a:ext cx="6017692" cy="404021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0747148-6DC2-418B-B0FB-34D29B9397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978" y="2040946"/>
            <a:ext cx="1651389" cy="262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2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26" y="-136707"/>
            <a:ext cx="12218126" cy="702781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4C291AE-8FBF-4C16-96CD-CCA2638DF391}"/>
              </a:ext>
            </a:extLst>
          </p:cNvPr>
          <p:cNvSpPr/>
          <p:nvPr/>
        </p:nvSpPr>
        <p:spPr>
          <a:xfrm>
            <a:off x="363983" y="340729"/>
            <a:ext cx="10801607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5.- Simulación 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Vensim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, Librería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PySd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, Python</a:t>
            </a:r>
          </a:p>
          <a:p>
            <a:endParaRPr lang="es-ES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CBCF6F8-84EC-44D0-9C43-294AE4501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367" y="1958950"/>
            <a:ext cx="1771650" cy="271198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FAF88E6-62E9-4F61-ABF7-1B027E6F6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62" y="2479265"/>
            <a:ext cx="1847850" cy="224676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8795CD-28EB-4BC4-B62A-FEA2CA09B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151" y="2458825"/>
            <a:ext cx="2087442" cy="205377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5650DB-D3AA-4F5D-BA42-A2178526A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44" y="1541057"/>
            <a:ext cx="6017692" cy="404021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0747148-6DC2-418B-B0FB-34D29B9397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3593" y="2114005"/>
            <a:ext cx="1651389" cy="262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95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26" y="-136707"/>
            <a:ext cx="12218126" cy="702781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4C291AE-8FBF-4C16-96CD-CCA2638DF391}"/>
              </a:ext>
            </a:extLst>
          </p:cNvPr>
          <p:cNvSpPr/>
          <p:nvPr/>
        </p:nvSpPr>
        <p:spPr>
          <a:xfrm>
            <a:off x="363983" y="340729"/>
            <a:ext cx="10801607" cy="28931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6.- Simulación 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Vensim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, Librería ,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Python,BD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…?. La base de datos , el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uusuario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No o crea</a:t>
            </a:r>
          </a:p>
          <a:p>
            <a:endParaRPr lang="es-ES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CBCF6F8-84EC-44D0-9C43-294AE4501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268" y="2220898"/>
            <a:ext cx="1771650" cy="271198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FAF88E6-62E9-4F61-ABF7-1B027E6F6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62" y="2479265"/>
            <a:ext cx="1847850" cy="224676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8795CD-28EB-4BC4-B62A-FEA2CA09B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628" y="2402113"/>
            <a:ext cx="2087442" cy="205377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5650DB-D3AA-4F5D-BA42-A2178526A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83" y="1691157"/>
            <a:ext cx="6017692" cy="404021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0747148-6DC2-418B-B0FB-34D29B9397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8167" y="2287654"/>
            <a:ext cx="1651389" cy="26299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87F6386-335C-4EBE-B4F4-E693244485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0349" y="767232"/>
            <a:ext cx="819150" cy="923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9340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26" y="-84909"/>
            <a:ext cx="12218126" cy="702781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4C291AE-8FBF-4C16-96CD-CCA2638DF391}"/>
              </a:ext>
            </a:extLst>
          </p:cNvPr>
          <p:cNvSpPr/>
          <p:nvPr/>
        </p:nvSpPr>
        <p:spPr>
          <a:xfrm>
            <a:off x="363983" y="340729"/>
            <a:ext cx="10801607" cy="28931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7.- </a:t>
            </a:r>
            <a:r>
              <a:rPr lang="es-ES" sz="32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Simulación  </a:t>
            </a:r>
            <a:r>
              <a:rPr lang="es-ES" sz="3200" b="1" spc="50" dirty="0" err="1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Vensim</a:t>
            </a:r>
            <a:r>
              <a:rPr lang="es-ES" sz="32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, Librería , </a:t>
            </a:r>
            <a:r>
              <a:rPr lang="es-ES" sz="3200" b="1" spc="50" dirty="0" err="1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Python,BD</a:t>
            </a:r>
            <a:r>
              <a:rPr lang="es-ES" sz="32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…?. La base de datos , el </a:t>
            </a:r>
            <a:r>
              <a:rPr lang="es-ES" sz="3200" b="1" spc="50" dirty="0" err="1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uusuario</a:t>
            </a:r>
            <a:r>
              <a:rPr lang="es-ES" sz="32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No o crea</a:t>
            </a:r>
          </a:p>
          <a:p>
            <a:endParaRPr lang="es-ES" sz="3200" b="1" spc="50" dirty="0">
              <a:ln w="0"/>
              <a:solidFill>
                <a:srgbClr val="FF000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CBCF6F8-84EC-44D0-9C43-294AE4501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268" y="2220898"/>
            <a:ext cx="1771650" cy="271198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FAF88E6-62E9-4F61-ABF7-1B027E6F6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62" y="2479265"/>
            <a:ext cx="1847850" cy="224676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8795CD-28EB-4BC4-B62A-FEA2CA09B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628" y="2402113"/>
            <a:ext cx="2087442" cy="205377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5650DB-D3AA-4F5D-BA42-A2178526A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83" y="1691157"/>
            <a:ext cx="6017692" cy="404021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0747148-6DC2-418B-B0FB-34D29B9397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8167" y="2287654"/>
            <a:ext cx="1651389" cy="26299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87F6386-335C-4EBE-B4F4-E693244485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0349" y="767232"/>
            <a:ext cx="819150" cy="923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3622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836"/>
            <a:ext cx="12218126" cy="70278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7AEDF31-5E2C-4438-9FB1-BF06201C85F0}"/>
              </a:ext>
            </a:extLst>
          </p:cNvPr>
          <p:cNvSpPr/>
          <p:nvPr/>
        </p:nvSpPr>
        <p:spPr>
          <a:xfrm>
            <a:off x="363983" y="340729"/>
            <a:ext cx="10801607" cy="141577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8.- Simulación: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xamppnativa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en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stella</a:t>
            </a:r>
            <a:r>
              <a:rPr lang="es-E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y </a:t>
            </a:r>
            <a:r>
              <a:rPr lang="es-ES" sz="32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Vensim</a:t>
            </a:r>
            <a:endParaRPr lang="es-ES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75F649-1275-4F45-B790-9C1E80FFA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42" y="1382032"/>
            <a:ext cx="2518555" cy="268807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B5B4DEC-1941-465A-BF5F-C11873E7B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017" y="1106341"/>
            <a:ext cx="6131762" cy="33711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B759E5D-5ECE-4D66-BF75-B15FAD5DB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61" y="4477476"/>
            <a:ext cx="2181225" cy="235267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CDD3B8C-F295-483D-8E03-DB81647E59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620" y="3973189"/>
            <a:ext cx="4393374" cy="30894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66C85FB-0595-4221-9FD5-584B48FA9D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496853">
            <a:off x="6024304" y="4257624"/>
            <a:ext cx="1343998" cy="9575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6B2AF42-6A77-488B-9319-73B038BE6A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9727" y="1975349"/>
            <a:ext cx="1457325" cy="130492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D2B3098-C0FC-421B-BE81-2C2FFA6167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587" y="1366837"/>
            <a:ext cx="27908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836"/>
            <a:ext cx="12218126" cy="702781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B6FF24B-7D01-4F1D-8B7F-B5062F552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664" y="1096530"/>
            <a:ext cx="3857897" cy="569146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02672D0-2E3B-4783-8248-BF0AD17E1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1026520"/>
            <a:ext cx="6901815" cy="583148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3AD5980-B54A-4C42-9BD5-2D216FEA54EB}"/>
              </a:ext>
            </a:extLst>
          </p:cNvPr>
          <p:cNvSpPr/>
          <p:nvPr/>
        </p:nvSpPr>
        <p:spPr>
          <a:xfrm>
            <a:off x="2748176" y="319929"/>
            <a:ext cx="9204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PC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E5A782C-A0A3-4620-8448-6E9D3FBBC0E7}"/>
              </a:ext>
            </a:extLst>
          </p:cNvPr>
          <p:cNvSpPr/>
          <p:nvPr/>
        </p:nvSpPr>
        <p:spPr>
          <a:xfrm>
            <a:off x="7699113" y="319929"/>
            <a:ext cx="25005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Android</a:t>
            </a:r>
          </a:p>
        </p:txBody>
      </p:sp>
    </p:spTree>
    <p:extLst>
      <p:ext uri="{BB962C8B-B14F-4D97-AF65-F5344CB8AC3E}">
        <p14:creationId xmlns:p14="http://schemas.microsoft.com/office/powerpoint/2010/main" val="1014744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836"/>
            <a:ext cx="12218126" cy="702781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66EBB83-249B-46C3-9F8C-62EFB0431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551" y="207236"/>
            <a:ext cx="5165136" cy="65436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4073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902E55-14BF-4B4C-A9A5-F8BC7557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26" y="0"/>
            <a:ext cx="12218126" cy="702781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2E1642F-034F-477E-AE7D-F6DEA861E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39" y="733287"/>
            <a:ext cx="7672251" cy="646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61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n 46">
            <a:extLst>
              <a:ext uri="{FF2B5EF4-FFF2-40B4-BE49-F238E27FC236}">
                <a16:creationId xmlns:a16="http://schemas.microsoft.com/office/drawing/2014/main" id="{290E496D-0112-49BD-BF1D-D6C877559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26" y="0"/>
            <a:ext cx="12218126" cy="7027818"/>
          </a:xfrm>
          <a:prstGeom prst="rect">
            <a:avLst/>
          </a:prstGeom>
        </p:spPr>
      </p:pic>
      <p:sp>
        <p:nvSpPr>
          <p:cNvPr id="48" name="Rectángulo 47">
            <a:extLst>
              <a:ext uri="{FF2B5EF4-FFF2-40B4-BE49-F238E27FC236}">
                <a16:creationId xmlns:a16="http://schemas.microsoft.com/office/drawing/2014/main" id="{26C8D718-4F31-4D78-ADDD-0634B2C6E5BF}"/>
              </a:ext>
            </a:extLst>
          </p:cNvPr>
          <p:cNvSpPr/>
          <p:nvPr/>
        </p:nvSpPr>
        <p:spPr>
          <a:xfrm>
            <a:off x="1292093" y="2026809"/>
            <a:ext cx="861505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Sistema :</a:t>
            </a:r>
          </a:p>
          <a:p>
            <a:pPr algn="ctr"/>
            <a:r>
              <a:rPr lang="es-E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Transporte Terrestre  publico</a:t>
            </a:r>
            <a:endParaRPr lang="es-E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8276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sp>
        <p:nvSpPr>
          <p:cNvPr id="4" name="Marcador de fecha 112">
            <a:extLst>
              <a:ext uri="{FF2B5EF4-FFF2-40B4-BE49-F238E27FC236}">
                <a16:creationId xmlns:a16="http://schemas.microsoft.com/office/drawing/2014/main" id="{7679634B-FC5D-4857-9EBD-D372693D2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6" name="Marcador de pie de página 113">
            <a:extLst>
              <a:ext uri="{FF2B5EF4-FFF2-40B4-BE49-F238E27FC236}">
                <a16:creationId xmlns:a16="http://schemas.microsoft.com/office/drawing/2014/main" id="{95C96CC7-6D75-4FD2-BC6E-16E69ECD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7" name="Marcador de número de diapositiva 114">
            <a:extLst>
              <a:ext uri="{FF2B5EF4-FFF2-40B4-BE49-F238E27FC236}">
                <a16:creationId xmlns:a16="http://schemas.microsoft.com/office/drawing/2014/main" id="{9E1D5CF7-6507-4D18-85EF-73713A6C7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13</a:t>
            </a:fld>
            <a:endParaRPr lang="es-ES"/>
          </a:p>
        </p:txBody>
      </p:sp>
      <p:sp>
        <p:nvSpPr>
          <p:cNvPr id="8" name="Nube 7">
            <a:extLst>
              <a:ext uri="{FF2B5EF4-FFF2-40B4-BE49-F238E27FC236}">
                <a16:creationId xmlns:a16="http://schemas.microsoft.com/office/drawing/2014/main" id="{B4A8BE76-2064-43FF-8C72-78052CF1E433}"/>
              </a:ext>
            </a:extLst>
          </p:cNvPr>
          <p:cNvSpPr/>
          <p:nvPr/>
        </p:nvSpPr>
        <p:spPr>
          <a:xfrm>
            <a:off x="165700" y="260567"/>
            <a:ext cx="12008645" cy="6597433"/>
          </a:xfrm>
          <a:prstGeom prst="cloud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F8401307-115D-4807-98DD-CF5BAC9626F0}"/>
              </a:ext>
            </a:extLst>
          </p:cNvPr>
          <p:cNvGrpSpPr/>
          <p:nvPr/>
        </p:nvGrpSpPr>
        <p:grpSpPr>
          <a:xfrm>
            <a:off x="747325" y="1799391"/>
            <a:ext cx="3184423" cy="2518852"/>
            <a:chOff x="1616907" y="2915487"/>
            <a:chExt cx="3687323" cy="2968789"/>
          </a:xfrm>
        </p:grpSpPr>
        <p:sp>
          <p:nvSpPr>
            <p:cNvPr id="10" name="Nube 9">
              <a:extLst>
                <a:ext uri="{FF2B5EF4-FFF2-40B4-BE49-F238E27FC236}">
                  <a16:creationId xmlns:a16="http://schemas.microsoft.com/office/drawing/2014/main" id="{3FBF68AE-922E-41ED-9C1F-AAD597C75DC2}"/>
                </a:ext>
              </a:extLst>
            </p:cNvPr>
            <p:cNvSpPr/>
            <p:nvPr/>
          </p:nvSpPr>
          <p:spPr>
            <a:xfrm>
              <a:off x="1616907" y="2915487"/>
              <a:ext cx="3687323" cy="2968789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54F2D783-ADF5-43E5-9987-38F2DDEE6F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4462" y="3723802"/>
              <a:ext cx="889198" cy="760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Imagen 11" descr="Icono&#10;&#10;El contenido generado por IA puede ser incorrecto.">
              <a:extLst>
                <a:ext uri="{FF2B5EF4-FFF2-40B4-BE49-F238E27FC236}">
                  <a16:creationId xmlns:a16="http://schemas.microsoft.com/office/drawing/2014/main" id="{146A43B5-585D-44A2-910B-CC0F17814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20633" y="3050458"/>
              <a:ext cx="1379676" cy="793147"/>
            </a:xfrm>
            <a:prstGeom prst="rect">
              <a:avLst/>
            </a:prstGeom>
          </p:spPr>
        </p:pic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7EBCF5BC-FBAE-4D95-933B-B9AA04DD74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1302" y="3188534"/>
              <a:ext cx="1386555" cy="1386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>
              <a:extLst>
                <a:ext uri="{FF2B5EF4-FFF2-40B4-BE49-F238E27FC236}">
                  <a16:creationId xmlns:a16="http://schemas.microsoft.com/office/drawing/2014/main" id="{9E0644BB-543C-4A16-BF1D-5271412D4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7579" y="4462097"/>
              <a:ext cx="2135137" cy="12934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3C3FA65-D73E-4F83-B6AD-62E39B7280D1}"/>
              </a:ext>
            </a:extLst>
          </p:cNvPr>
          <p:cNvGrpSpPr/>
          <p:nvPr/>
        </p:nvGrpSpPr>
        <p:grpSpPr>
          <a:xfrm>
            <a:off x="7688724" y="488838"/>
            <a:ext cx="2912803" cy="2172135"/>
            <a:chOff x="7922344" y="2821858"/>
            <a:chExt cx="2912803" cy="2172135"/>
          </a:xfrm>
        </p:grpSpPr>
        <p:sp>
          <p:nvSpPr>
            <p:cNvPr id="16" name="Nube 15">
              <a:extLst>
                <a:ext uri="{FF2B5EF4-FFF2-40B4-BE49-F238E27FC236}">
                  <a16:creationId xmlns:a16="http://schemas.microsoft.com/office/drawing/2014/main" id="{726CB082-6FEE-44C1-9868-9EB5ABDE5F5F}"/>
                </a:ext>
              </a:extLst>
            </p:cNvPr>
            <p:cNvSpPr/>
            <p:nvPr/>
          </p:nvSpPr>
          <p:spPr>
            <a:xfrm>
              <a:off x="7922344" y="2821858"/>
              <a:ext cx="2912803" cy="2172135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7" name="Imagen 16" descr="Una caricatura de una persona&#10;&#10;El contenido generado por IA puede ser incorrecto.">
              <a:extLst>
                <a:ext uri="{FF2B5EF4-FFF2-40B4-BE49-F238E27FC236}">
                  <a16:creationId xmlns:a16="http://schemas.microsoft.com/office/drawing/2014/main" id="{3E5DF941-B499-48D5-9F12-20276A982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22344" y="3317950"/>
              <a:ext cx="1543094" cy="1543094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F3B11D27-374E-40F8-91F7-637717267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39506" y="3046505"/>
              <a:ext cx="1335249" cy="1335249"/>
            </a:xfrm>
            <a:prstGeom prst="rect">
              <a:avLst/>
            </a:prstGeom>
          </p:spPr>
        </p:pic>
        <p:pic>
          <p:nvPicPr>
            <p:cNvPr id="19" name="Imagen 18" descr="Caja de cartón&#10;&#10;El contenido generado por IA puede ser incorrecto.">
              <a:extLst>
                <a:ext uri="{FF2B5EF4-FFF2-40B4-BE49-F238E27FC236}">
                  <a16:creationId xmlns:a16="http://schemas.microsoft.com/office/drawing/2014/main" id="{50847AA5-0FE0-41A3-9755-D3BCE0AA4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93449" y="2957737"/>
              <a:ext cx="981644" cy="981644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EA9E101E-9F7F-4ACD-A669-AC28C2CAC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88683" y="3890893"/>
              <a:ext cx="1219609" cy="753195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7535AA55-2E4B-49F2-A27F-376CAECCB3F2}"/>
              </a:ext>
            </a:extLst>
          </p:cNvPr>
          <p:cNvGrpSpPr/>
          <p:nvPr/>
        </p:nvGrpSpPr>
        <p:grpSpPr>
          <a:xfrm>
            <a:off x="4136643" y="713485"/>
            <a:ext cx="3272507" cy="2068131"/>
            <a:chOff x="4753358" y="1249819"/>
            <a:chExt cx="3272507" cy="2068131"/>
          </a:xfrm>
        </p:grpSpPr>
        <p:sp>
          <p:nvSpPr>
            <p:cNvPr id="22" name="Nube 21">
              <a:extLst>
                <a:ext uri="{FF2B5EF4-FFF2-40B4-BE49-F238E27FC236}">
                  <a16:creationId xmlns:a16="http://schemas.microsoft.com/office/drawing/2014/main" id="{5223531B-EBBC-450A-9BD7-1A09B56F6FA1}"/>
                </a:ext>
              </a:extLst>
            </p:cNvPr>
            <p:cNvSpPr/>
            <p:nvPr/>
          </p:nvSpPr>
          <p:spPr>
            <a:xfrm>
              <a:off x="4753358" y="1258297"/>
              <a:ext cx="3184423" cy="2059653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23" name="Picture 16" descr="Carretera De Curvas Con Las Marcas Amarillas. Ilustración Fotos, retratos,  imágenes y fotografía de archivo libres de derecho. Image 65978511">
              <a:extLst>
                <a:ext uri="{FF2B5EF4-FFF2-40B4-BE49-F238E27FC236}">
                  <a16:creationId xmlns:a16="http://schemas.microsoft.com/office/drawing/2014/main" id="{36A1C7FE-2F01-41AF-8691-215091DA9D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521" r="16879"/>
            <a:stretch/>
          </p:blipFill>
          <p:spPr bwMode="auto">
            <a:xfrm>
              <a:off x="5762863" y="1568353"/>
              <a:ext cx="1113550" cy="1360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0">
              <a:extLst>
                <a:ext uri="{FF2B5EF4-FFF2-40B4-BE49-F238E27FC236}">
                  <a16:creationId xmlns:a16="http://schemas.microsoft.com/office/drawing/2014/main" id="{4AC22F31-FBE6-47CC-BA18-086FE25321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3682" y="1767842"/>
              <a:ext cx="779273" cy="1160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2">
              <a:extLst>
                <a:ext uri="{FF2B5EF4-FFF2-40B4-BE49-F238E27FC236}">
                  <a16:creationId xmlns:a16="http://schemas.microsoft.com/office/drawing/2014/main" id="{3121E227-3863-47F0-925B-07A7BA6BF6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4820" y="1249819"/>
              <a:ext cx="1421045" cy="1421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" name="Nube 25">
            <a:extLst>
              <a:ext uri="{FF2B5EF4-FFF2-40B4-BE49-F238E27FC236}">
                <a16:creationId xmlns:a16="http://schemas.microsoft.com/office/drawing/2014/main" id="{4C57683F-F1D7-4C0B-A717-70CA9D2AD47F}"/>
              </a:ext>
            </a:extLst>
          </p:cNvPr>
          <p:cNvSpPr/>
          <p:nvPr/>
        </p:nvSpPr>
        <p:spPr>
          <a:xfrm>
            <a:off x="2903864" y="4013009"/>
            <a:ext cx="4218317" cy="228542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Nube 26">
            <a:extLst>
              <a:ext uri="{FF2B5EF4-FFF2-40B4-BE49-F238E27FC236}">
                <a16:creationId xmlns:a16="http://schemas.microsoft.com/office/drawing/2014/main" id="{0F3454B5-C274-4CB9-99D3-0616C838DA66}"/>
              </a:ext>
            </a:extLst>
          </p:cNvPr>
          <p:cNvSpPr/>
          <p:nvPr/>
        </p:nvSpPr>
        <p:spPr>
          <a:xfrm>
            <a:off x="7233340" y="2796853"/>
            <a:ext cx="3598824" cy="303132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8" name="Picture 24">
            <a:extLst>
              <a:ext uri="{FF2B5EF4-FFF2-40B4-BE49-F238E27FC236}">
                <a16:creationId xmlns:a16="http://schemas.microsoft.com/office/drawing/2014/main" id="{FC32977D-11BC-45F9-A9FB-60066CC14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299" y="3183105"/>
            <a:ext cx="1016035" cy="119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>
            <a:extLst>
              <a:ext uri="{FF2B5EF4-FFF2-40B4-BE49-F238E27FC236}">
                <a16:creationId xmlns:a16="http://schemas.microsoft.com/office/drawing/2014/main" id="{3050E86F-64B5-48DD-AE42-7EEEFE127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332" y="4323484"/>
            <a:ext cx="1453996" cy="135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6" descr="Qué empresas de transporte cobran pasaje con tarjeta electrónica como el  Metropolitano? | Noticias | Agencia Peruana de Noticias Andina">
            <a:extLst>
              <a:ext uri="{FF2B5EF4-FFF2-40B4-BE49-F238E27FC236}">
                <a16:creationId xmlns:a16="http://schemas.microsoft.com/office/drawing/2014/main" id="{FE7370F5-9ACD-4A43-B373-7D24F8D0C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465" y="3190207"/>
            <a:ext cx="1410817" cy="95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Mecánicos a Domicilio en Lima las ‍ 24 hrs ✔️">
            <a:extLst>
              <a:ext uri="{FF2B5EF4-FFF2-40B4-BE49-F238E27FC236}">
                <a16:creationId xmlns:a16="http://schemas.microsoft.com/office/drawing/2014/main" id="{B405FBF2-415A-4934-AFF9-A0F6653C0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392" y="4472655"/>
            <a:ext cx="1529788" cy="86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2" descr="Un total de 240 policías de tránsito agilizan el flujo vehicular en nuestro  distrito - Noticias - Municipalidad Distrital de San Isidro - Lima -  Plataforma del Estado Peruano">
            <a:extLst>
              <a:ext uri="{FF2B5EF4-FFF2-40B4-BE49-F238E27FC236}">
                <a16:creationId xmlns:a16="http://schemas.microsoft.com/office/drawing/2014/main" id="{900F3B9B-5321-4AC1-9D02-A9C94B751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497" y="5313824"/>
            <a:ext cx="1037921" cy="77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AutoShape 8" descr="Covinca S.A.">
            <a:extLst>
              <a:ext uri="{FF2B5EF4-FFF2-40B4-BE49-F238E27FC236}">
                <a16:creationId xmlns:a16="http://schemas.microsoft.com/office/drawing/2014/main" id="{B85CEC08-CACB-4F00-8341-E87D7C1DC4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34" name="AutoShape 10" descr="Covinca S.A.">
            <a:extLst>
              <a:ext uri="{FF2B5EF4-FFF2-40B4-BE49-F238E27FC236}">
                <a16:creationId xmlns:a16="http://schemas.microsoft.com/office/drawing/2014/main" id="{0FDD0F28-D47C-4F3E-8383-CF471C4F9A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35" name="AutoShape 12" descr="Covinca S.A.">
            <a:extLst>
              <a:ext uri="{FF2B5EF4-FFF2-40B4-BE49-F238E27FC236}">
                <a16:creationId xmlns:a16="http://schemas.microsoft.com/office/drawing/2014/main" id="{3A2AE940-58BE-4922-979B-1D1224DA61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8189" y="387499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36" name="Picture 14" descr="Covinca S.A.">
            <a:extLst>
              <a:ext uri="{FF2B5EF4-FFF2-40B4-BE49-F238E27FC236}">
                <a16:creationId xmlns:a16="http://schemas.microsoft.com/office/drawing/2014/main" id="{DB28E312-C30C-4D4F-8DBD-0D7B0D709C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0" t="12060" r="8100" b="14059"/>
          <a:stretch/>
        </p:blipFill>
        <p:spPr bwMode="auto">
          <a:xfrm>
            <a:off x="3463205" y="4566949"/>
            <a:ext cx="1000583" cy="917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32971D05-ADBB-4A4A-A0F0-D8655EA9A00A}"/>
              </a:ext>
            </a:extLst>
          </p:cNvPr>
          <p:cNvCxnSpPr>
            <a:cxnSpLocks/>
          </p:cNvCxnSpPr>
          <p:nvPr/>
        </p:nvCxnSpPr>
        <p:spPr>
          <a:xfrm flipV="1">
            <a:off x="5285099" y="2686140"/>
            <a:ext cx="0" cy="12941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7538051-292B-44D7-9D3F-E68598EBEE60}"/>
              </a:ext>
            </a:extLst>
          </p:cNvPr>
          <p:cNvCxnSpPr>
            <a:cxnSpLocks/>
          </p:cNvCxnSpPr>
          <p:nvPr/>
        </p:nvCxnSpPr>
        <p:spPr>
          <a:xfrm flipV="1">
            <a:off x="5910059" y="3582797"/>
            <a:ext cx="1605984" cy="3736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6354CB62-2634-47E1-9880-4E2CB4036FEA}"/>
              </a:ext>
            </a:extLst>
          </p:cNvPr>
          <p:cNvCxnSpPr>
            <a:cxnSpLocks/>
          </p:cNvCxnSpPr>
          <p:nvPr/>
        </p:nvCxnSpPr>
        <p:spPr>
          <a:xfrm flipH="1" flipV="1">
            <a:off x="3728788" y="3590241"/>
            <a:ext cx="815709" cy="4302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C8F9BC8-7CD9-4E49-8103-F44704C7104F}"/>
              </a:ext>
            </a:extLst>
          </p:cNvPr>
          <p:cNvCxnSpPr>
            <a:cxnSpLocks/>
          </p:cNvCxnSpPr>
          <p:nvPr/>
        </p:nvCxnSpPr>
        <p:spPr>
          <a:xfrm flipH="1">
            <a:off x="4024459" y="2383236"/>
            <a:ext cx="3978979" cy="92466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2288390C-FAE9-42D5-8407-D725702A9C44}"/>
              </a:ext>
            </a:extLst>
          </p:cNvPr>
          <p:cNvCxnSpPr>
            <a:cxnSpLocks/>
          </p:cNvCxnSpPr>
          <p:nvPr/>
        </p:nvCxnSpPr>
        <p:spPr>
          <a:xfrm flipH="1" flipV="1">
            <a:off x="3993892" y="2953725"/>
            <a:ext cx="3469923" cy="43036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58C68186-9B3C-43EF-B174-167F5FC472B4}"/>
              </a:ext>
            </a:extLst>
          </p:cNvPr>
          <p:cNvCxnSpPr>
            <a:cxnSpLocks/>
          </p:cNvCxnSpPr>
          <p:nvPr/>
        </p:nvCxnSpPr>
        <p:spPr>
          <a:xfrm flipV="1">
            <a:off x="3736330" y="1973144"/>
            <a:ext cx="454334" cy="7559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16">
            <a:extLst>
              <a:ext uri="{FF2B5EF4-FFF2-40B4-BE49-F238E27FC236}">
                <a16:creationId xmlns:a16="http://schemas.microsoft.com/office/drawing/2014/main" id="{536D2FD9-3093-4634-A8ED-119B44167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702" y="4286466"/>
            <a:ext cx="884574" cy="94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D5A8851E-EDFF-4453-BA29-A0BCAF1050F6}"/>
              </a:ext>
            </a:extLst>
          </p:cNvPr>
          <p:cNvSpPr txBox="1"/>
          <p:nvPr/>
        </p:nvSpPr>
        <p:spPr>
          <a:xfrm>
            <a:off x="3906224" y="4579145"/>
            <a:ext cx="585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800"/>
              <a:t>Empresa de peaje</a:t>
            </a:r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8A4D7C1E-7D2F-4929-BE74-C06E58203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702" y="2319761"/>
            <a:ext cx="1319626" cy="131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B2B7AD7-0CF7-4F12-AAD7-CC824E7A674C}"/>
              </a:ext>
            </a:extLst>
          </p:cNvPr>
          <p:cNvSpPr/>
          <p:nvPr/>
        </p:nvSpPr>
        <p:spPr>
          <a:xfrm>
            <a:off x="4480136" y="2230899"/>
            <a:ext cx="218425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infraestructura</a:t>
            </a:r>
          </a:p>
        </p:txBody>
      </p:sp>
    </p:spTree>
    <p:extLst>
      <p:ext uri="{BB962C8B-B14F-4D97-AF65-F5344CB8AC3E}">
        <p14:creationId xmlns:p14="http://schemas.microsoft.com/office/powerpoint/2010/main" val="520455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sp>
        <p:nvSpPr>
          <p:cNvPr id="6" name="Marcador de fecha 112">
            <a:extLst>
              <a:ext uri="{FF2B5EF4-FFF2-40B4-BE49-F238E27FC236}">
                <a16:creationId xmlns:a16="http://schemas.microsoft.com/office/drawing/2014/main" id="{D9C3536E-3A26-442C-814F-28EEF074E3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7" name="Marcador de pie de página 113">
            <a:extLst>
              <a:ext uri="{FF2B5EF4-FFF2-40B4-BE49-F238E27FC236}">
                <a16:creationId xmlns:a16="http://schemas.microsoft.com/office/drawing/2014/main" id="{85D9A747-C429-42D1-B2B2-76BAA2B4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8" name="Marcador de número de diapositiva 114">
            <a:extLst>
              <a:ext uri="{FF2B5EF4-FFF2-40B4-BE49-F238E27FC236}">
                <a16:creationId xmlns:a16="http://schemas.microsoft.com/office/drawing/2014/main" id="{01E45247-BF67-4175-9F48-862C30BA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14</a:t>
            </a:fld>
            <a:endParaRPr lang="es-ES"/>
          </a:p>
        </p:txBody>
      </p:sp>
      <p:sp>
        <p:nvSpPr>
          <p:cNvPr id="9" name="Nube 8">
            <a:extLst>
              <a:ext uri="{FF2B5EF4-FFF2-40B4-BE49-F238E27FC236}">
                <a16:creationId xmlns:a16="http://schemas.microsoft.com/office/drawing/2014/main" id="{231A708C-4A71-4116-8E18-0D4F199A66FC}"/>
              </a:ext>
            </a:extLst>
          </p:cNvPr>
          <p:cNvSpPr/>
          <p:nvPr/>
        </p:nvSpPr>
        <p:spPr>
          <a:xfrm>
            <a:off x="165700" y="529772"/>
            <a:ext cx="12008645" cy="6251815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0564348C-7771-4DBF-8D87-17215467540C}"/>
              </a:ext>
            </a:extLst>
          </p:cNvPr>
          <p:cNvGrpSpPr/>
          <p:nvPr/>
        </p:nvGrpSpPr>
        <p:grpSpPr>
          <a:xfrm>
            <a:off x="298798" y="3420164"/>
            <a:ext cx="5199963" cy="1083139"/>
            <a:chOff x="73993" y="2692495"/>
            <a:chExt cx="15781654" cy="4584535"/>
          </a:xfrm>
        </p:grpSpPr>
        <p:sp>
          <p:nvSpPr>
            <p:cNvPr id="11" name="Nube 10">
              <a:extLst>
                <a:ext uri="{FF2B5EF4-FFF2-40B4-BE49-F238E27FC236}">
                  <a16:creationId xmlns:a16="http://schemas.microsoft.com/office/drawing/2014/main" id="{F943A94E-E744-42B1-81EB-6E763CD4CDBE}"/>
                </a:ext>
              </a:extLst>
            </p:cNvPr>
            <p:cNvSpPr/>
            <p:nvPr/>
          </p:nvSpPr>
          <p:spPr>
            <a:xfrm>
              <a:off x="73993" y="2692495"/>
              <a:ext cx="6302616" cy="2548082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2AC98E93-A332-4333-9398-357B5F927C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04083" y="5240577"/>
              <a:ext cx="2036458" cy="2036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Imagen 11" descr="Icono&#10;&#10;El contenido generado por IA puede ser incorrecto.">
              <a:extLst>
                <a:ext uri="{FF2B5EF4-FFF2-40B4-BE49-F238E27FC236}">
                  <a16:creationId xmlns:a16="http://schemas.microsoft.com/office/drawing/2014/main" id="{175A67F6-9104-42EA-B1E9-EAC126806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75972" y="5055788"/>
              <a:ext cx="1379675" cy="793150"/>
            </a:xfrm>
            <a:prstGeom prst="rect">
              <a:avLst/>
            </a:prstGeom>
          </p:spPr>
        </p:pic>
      </p:grpSp>
      <p:sp>
        <p:nvSpPr>
          <p:cNvPr id="23" name="AutoShape 8" descr="Covinca S.A.">
            <a:extLst>
              <a:ext uri="{FF2B5EF4-FFF2-40B4-BE49-F238E27FC236}">
                <a16:creationId xmlns:a16="http://schemas.microsoft.com/office/drawing/2014/main" id="{C6B38F05-C2E5-4D67-8401-3444785510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24" name="AutoShape 10" descr="Covinca S.A.">
            <a:extLst>
              <a:ext uri="{FF2B5EF4-FFF2-40B4-BE49-F238E27FC236}">
                <a16:creationId xmlns:a16="http://schemas.microsoft.com/office/drawing/2014/main" id="{20F9B8B5-B559-45DC-B5D1-06B6E7B2B2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25" name="AutoShape 12" descr="Covinca S.A.">
            <a:extLst>
              <a:ext uri="{FF2B5EF4-FFF2-40B4-BE49-F238E27FC236}">
                <a16:creationId xmlns:a16="http://schemas.microsoft.com/office/drawing/2014/main" id="{1EDF1985-1C8E-4F7B-9023-3558126E67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8189" y="387499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274DFADC-A29D-41B3-ADDA-A3702771BF35}"/>
              </a:ext>
            </a:extLst>
          </p:cNvPr>
          <p:cNvSpPr txBox="1">
            <a:spLocks/>
          </p:cNvSpPr>
          <p:nvPr/>
        </p:nvSpPr>
        <p:spPr>
          <a:xfrm>
            <a:off x="-1265298" y="92785"/>
            <a:ext cx="6950196" cy="5611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accent1"/>
                </a:solidFill>
              </a:rPr>
              <a:t>Unidad de  Análisis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BC74906-FBC1-419E-ADD8-D80F8F76759E}"/>
              </a:ext>
            </a:extLst>
          </p:cNvPr>
          <p:cNvSpPr txBox="1"/>
          <p:nvPr/>
        </p:nvSpPr>
        <p:spPr>
          <a:xfrm>
            <a:off x="6545203" y="1098921"/>
            <a:ext cx="2612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b="1" dirty="0">
                <a:solidFill>
                  <a:schemeClr val="accent1">
                    <a:lumMod val="75000"/>
                  </a:schemeClr>
                </a:solidFill>
                <a:latin typeface="Bernard MT Condensed" panose="02050806060905020404" pitchFamily="18" charset="0"/>
              </a:rPr>
              <a:t>Infraestructura</a:t>
            </a:r>
          </a:p>
        </p:txBody>
      </p:sp>
      <p:pic>
        <p:nvPicPr>
          <p:cNvPr id="30" name="Picture 24" descr="A cartoon of a person driving a vehicle&#10;&#10;AI-generated content may be incorrect.">
            <a:extLst>
              <a:ext uri="{FF2B5EF4-FFF2-40B4-BE49-F238E27FC236}">
                <a16:creationId xmlns:a16="http://schemas.microsoft.com/office/drawing/2014/main" id="{B082DFF9-8C8B-4E17-834F-6DEAFC384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673" y="1844628"/>
            <a:ext cx="606112" cy="715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DCC827D4-01D4-4F63-A0F1-F90C502F3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746" y="4334142"/>
            <a:ext cx="1081392" cy="1081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19468DB5-6F77-4BD0-BFA1-7B21830EDFCF}"/>
              </a:ext>
            </a:extLst>
          </p:cNvPr>
          <p:cNvSpPr/>
          <p:nvPr/>
        </p:nvSpPr>
        <p:spPr>
          <a:xfrm>
            <a:off x="1676572" y="4063875"/>
            <a:ext cx="4231250" cy="24314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000" b="1" cap="none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s-ES" sz="20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</a:t>
            </a:r>
            <a:r>
              <a:rPr lang="es-ES" sz="14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2.1.-años</a:t>
            </a:r>
          </a:p>
          <a:p>
            <a:r>
              <a:rPr lang="es-ES" sz="14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2.2.- Construidas</a:t>
            </a:r>
          </a:p>
          <a:p>
            <a:r>
              <a:rPr lang="es-ES" sz="14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2.3.- obsoletas</a:t>
            </a:r>
          </a:p>
          <a:p>
            <a:r>
              <a:rPr lang="es-ES" sz="14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2.4.- Gastos-totales</a:t>
            </a:r>
          </a:p>
          <a:p>
            <a:r>
              <a:rPr lang="es-ES" sz="14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2.5.- mantenimiento</a:t>
            </a:r>
          </a:p>
          <a:p>
            <a:r>
              <a:rPr lang="es-ES" sz="14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2.6.- maquinaria-compra</a:t>
            </a:r>
          </a:p>
          <a:p>
            <a:r>
              <a:rPr lang="es-ES" sz="14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2.7.-pago_técnicos_contratados</a:t>
            </a:r>
          </a:p>
          <a:p>
            <a:r>
              <a:rPr lang="es-ES" sz="14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2.8.- tasa_ construcción</a:t>
            </a:r>
          </a:p>
          <a:p>
            <a:r>
              <a:rPr lang="es-ES" sz="14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2.9.- tasa_ obsoleta</a:t>
            </a:r>
          </a:p>
          <a:p>
            <a:pPr algn="ctr"/>
            <a:endParaRPr lang="es-ES" sz="2000" b="1" cap="none" spc="50" dirty="0">
              <a:ln w="0"/>
              <a:solidFill>
                <a:schemeClr val="accent3">
                  <a:lumMod val="10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E6235E90-1518-4CD5-81D0-8F29C203A49D}"/>
              </a:ext>
            </a:extLst>
          </p:cNvPr>
          <p:cNvGrpSpPr/>
          <p:nvPr/>
        </p:nvGrpSpPr>
        <p:grpSpPr>
          <a:xfrm>
            <a:off x="3654540" y="1254045"/>
            <a:ext cx="3272507" cy="2068131"/>
            <a:chOff x="4753358" y="1249819"/>
            <a:chExt cx="3272507" cy="2068131"/>
          </a:xfrm>
        </p:grpSpPr>
        <p:sp>
          <p:nvSpPr>
            <p:cNvPr id="19" name="Nube 18">
              <a:extLst>
                <a:ext uri="{FF2B5EF4-FFF2-40B4-BE49-F238E27FC236}">
                  <a16:creationId xmlns:a16="http://schemas.microsoft.com/office/drawing/2014/main" id="{68662693-C480-471D-83ED-A6875AAA0F89}"/>
                </a:ext>
              </a:extLst>
            </p:cNvPr>
            <p:cNvSpPr/>
            <p:nvPr/>
          </p:nvSpPr>
          <p:spPr>
            <a:xfrm>
              <a:off x="4753358" y="1258297"/>
              <a:ext cx="3184423" cy="2059653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20" name="Picture 16" descr="Carretera De Curvas Con Las Marcas Amarillas. Ilustración Fotos, retratos,  imágenes y fotografía de archivo libres de derecho. Image 65978511">
              <a:extLst>
                <a:ext uri="{FF2B5EF4-FFF2-40B4-BE49-F238E27FC236}">
                  <a16:creationId xmlns:a16="http://schemas.microsoft.com/office/drawing/2014/main" id="{8C796990-471B-4043-8393-7303DA0631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521" r="16879"/>
            <a:stretch/>
          </p:blipFill>
          <p:spPr bwMode="auto">
            <a:xfrm>
              <a:off x="5762863" y="1568353"/>
              <a:ext cx="1113550" cy="1360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CF3AAE6-5EA6-47F7-95D7-131133CA2A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3682" y="1767842"/>
              <a:ext cx="779273" cy="1160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F926469A-84AC-46A6-8198-805B5E117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4820" y="1249819"/>
              <a:ext cx="1421045" cy="1421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6" name="Nube 35">
            <a:extLst>
              <a:ext uri="{FF2B5EF4-FFF2-40B4-BE49-F238E27FC236}">
                <a16:creationId xmlns:a16="http://schemas.microsoft.com/office/drawing/2014/main" id="{022DCCC5-F6C5-441A-B21E-90682971C583}"/>
              </a:ext>
            </a:extLst>
          </p:cNvPr>
          <p:cNvSpPr/>
          <p:nvPr/>
        </p:nvSpPr>
        <p:spPr>
          <a:xfrm>
            <a:off x="2479950" y="3545493"/>
            <a:ext cx="1677328" cy="60200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spc="5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Losas</a:t>
            </a:r>
            <a:endParaRPr lang="es-ES" sz="1800" b="1" spc="50" dirty="0">
              <a:ln w="0"/>
              <a:solidFill>
                <a:schemeClr val="accent3">
                  <a:lumMod val="10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9" name="Nube 38">
            <a:extLst>
              <a:ext uri="{FF2B5EF4-FFF2-40B4-BE49-F238E27FC236}">
                <a16:creationId xmlns:a16="http://schemas.microsoft.com/office/drawing/2014/main" id="{B80C9877-7A75-4E0F-8414-B7B7FE38C927}"/>
              </a:ext>
            </a:extLst>
          </p:cNvPr>
          <p:cNvSpPr/>
          <p:nvPr/>
        </p:nvSpPr>
        <p:spPr>
          <a:xfrm>
            <a:off x="4378245" y="4183667"/>
            <a:ext cx="1677328" cy="60200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cap="none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3.-Pistas</a:t>
            </a:r>
          </a:p>
        </p:txBody>
      </p:sp>
      <p:sp>
        <p:nvSpPr>
          <p:cNvPr id="40" name="Nube 39">
            <a:extLst>
              <a:ext uri="{FF2B5EF4-FFF2-40B4-BE49-F238E27FC236}">
                <a16:creationId xmlns:a16="http://schemas.microsoft.com/office/drawing/2014/main" id="{0638C692-DEC8-4EE7-90C4-96C13C03EF84}"/>
              </a:ext>
            </a:extLst>
          </p:cNvPr>
          <p:cNvSpPr/>
          <p:nvPr/>
        </p:nvSpPr>
        <p:spPr>
          <a:xfrm>
            <a:off x="6365021" y="4223320"/>
            <a:ext cx="2174701" cy="60200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4.-Puenets</a:t>
            </a:r>
          </a:p>
        </p:txBody>
      </p:sp>
      <p:sp>
        <p:nvSpPr>
          <p:cNvPr id="41" name="Nube 40">
            <a:extLst>
              <a:ext uri="{FF2B5EF4-FFF2-40B4-BE49-F238E27FC236}">
                <a16:creationId xmlns:a16="http://schemas.microsoft.com/office/drawing/2014/main" id="{43924F79-D016-43B8-AC4D-511C4A871EF0}"/>
              </a:ext>
            </a:extLst>
          </p:cNvPr>
          <p:cNvSpPr/>
          <p:nvPr/>
        </p:nvSpPr>
        <p:spPr>
          <a:xfrm>
            <a:off x="8682812" y="3971265"/>
            <a:ext cx="1677328" cy="60200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cap="none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5.-Veredas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9671800-4599-49EC-B0BB-DA4F6995BD66}"/>
              </a:ext>
            </a:extLst>
          </p:cNvPr>
          <p:cNvSpPr txBox="1"/>
          <p:nvPr/>
        </p:nvSpPr>
        <p:spPr>
          <a:xfrm>
            <a:off x="664464" y="3436007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cap="none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1.- alumbrado </a:t>
            </a:r>
          </a:p>
          <a:p>
            <a:r>
              <a:rPr lang="es-ES" sz="1800" b="1" cap="none" spc="50" dirty="0">
                <a:ln w="0"/>
                <a:solidFill>
                  <a:schemeClr val="accent3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publico</a:t>
            </a: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3D73BE1A-2E04-4C82-BDEB-4D8D9E0B36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9477" y="3577435"/>
            <a:ext cx="826257" cy="436035"/>
          </a:xfrm>
          <a:prstGeom prst="rect">
            <a:avLst/>
          </a:prstGeom>
        </p:spPr>
      </p:pic>
      <p:pic>
        <p:nvPicPr>
          <p:cNvPr id="45" name="Imagen 44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3F4F851B-DE65-484C-8088-44E1D19159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1399" y="3609025"/>
            <a:ext cx="760513" cy="369394"/>
          </a:xfrm>
          <a:prstGeom prst="rect">
            <a:avLst/>
          </a:prstGeom>
        </p:spPr>
      </p:pic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AECC4185-F02C-4B34-BCCC-42B2EB9818FF}"/>
              </a:ext>
            </a:extLst>
          </p:cNvPr>
          <p:cNvCxnSpPr>
            <a:cxnSpLocks/>
          </p:cNvCxnSpPr>
          <p:nvPr/>
        </p:nvCxnSpPr>
        <p:spPr>
          <a:xfrm flipH="1">
            <a:off x="2228879" y="3141225"/>
            <a:ext cx="2024893" cy="2707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28D187E4-D6C2-4BDF-83C8-C9CD4AECE984}"/>
              </a:ext>
            </a:extLst>
          </p:cNvPr>
          <p:cNvCxnSpPr>
            <a:cxnSpLocks/>
          </p:cNvCxnSpPr>
          <p:nvPr/>
        </p:nvCxnSpPr>
        <p:spPr>
          <a:xfrm flipH="1">
            <a:off x="4097046" y="3151181"/>
            <a:ext cx="801190" cy="4435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1847905C-BAD3-44AF-AF81-B3EF3E3A0C6F}"/>
              </a:ext>
            </a:extLst>
          </p:cNvPr>
          <p:cNvCxnSpPr>
            <a:cxnSpLocks/>
          </p:cNvCxnSpPr>
          <p:nvPr/>
        </p:nvCxnSpPr>
        <p:spPr>
          <a:xfrm flipH="1">
            <a:off x="4974562" y="3296081"/>
            <a:ext cx="75915" cy="8833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F27A0306-3DEC-44D5-9D96-46FCAFD9DFDF}"/>
              </a:ext>
            </a:extLst>
          </p:cNvPr>
          <p:cNvCxnSpPr>
            <a:cxnSpLocks/>
          </p:cNvCxnSpPr>
          <p:nvPr/>
        </p:nvCxnSpPr>
        <p:spPr>
          <a:xfrm>
            <a:off x="5679434" y="3036151"/>
            <a:ext cx="1128298" cy="12390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F34B482C-A7FB-49EF-87D8-6A52DF803B39}"/>
              </a:ext>
            </a:extLst>
          </p:cNvPr>
          <p:cNvCxnSpPr>
            <a:cxnSpLocks/>
          </p:cNvCxnSpPr>
          <p:nvPr/>
        </p:nvCxnSpPr>
        <p:spPr>
          <a:xfrm>
            <a:off x="6221677" y="3007762"/>
            <a:ext cx="2610949" cy="1123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3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9" grpId="0" animBg="1"/>
      <p:bldP spid="40" grpId="0" animBg="1"/>
      <p:bldP spid="41" grpId="0" animBg="1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001601-621C-4566-869B-2A80F3C9F0E3}"/>
              </a:ext>
            </a:extLst>
          </p:cNvPr>
          <p:cNvSpPr txBox="1">
            <a:spLocks/>
          </p:cNvSpPr>
          <p:nvPr/>
        </p:nvSpPr>
        <p:spPr>
          <a:xfrm>
            <a:off x="1480456" y="1077277"/>
            <a:ext cx="6897189" cy="42349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3600" dirty="0">
                <a:solidFill>
                  <a:schemeClr val="bg1"/>
                </a:solidFill>
              </a:rPr>
              <a:t>Contenido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3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solidFill>
                  <a:schemeClr val="bg1"/>
                </a:solidFill>
              </a:rPr>
              <a:t>aplicación de TGS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solidFill>
                  <a:schemeClr val="bg1"/>
                </a:solidFill>
              </a:rPr>
              <a:t>diagrama causal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solidFill>
                  <a:schemeClr val="bg1"/>
                </a:solidFill>
              </a:rPr>
              <a:t>símil hidrodinámico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solidFill>
                  <a:schemeClr val="bg1"/>
                </a:solidFill>
              </a:rPr>
              <a:t>submodelos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solidFill>
                  <a:schemeClr val="bg1"/>
                </a:solidFill>
              </a:rPr>
              <a:t>modelos analíticos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>
                <a:solidFill>
                  <a:schemeClr val="bg1"/>
                </a:solidFill>
              </a:rPr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3169702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43C7FC2-9CC6-457B-880F-6E117513F73E}"/>
              </a:ext>
            </a:extLst>
          </p:cNvPr>
          <p:cNvSpPr/>
          <p:nvPr/>
        </p:nvSpPr>
        <p:spPr>
          <a:xfrm>
            <a:off x="1172525" y="677987"/>
            <a:ext cx="11167521" cy="60016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8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1.- alumbrado publico</a:t>
            </a:r>
          </a:p>
          <a:p>
            <a:r>
              <a:rPr lang="es-ES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2.- Losas</a:t>
            </a:r>
          </a:p>
          <a:p>
            <a:r>
              <a:rPr lang="es-ES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2.1.-años</a:t>
            </a:r>
          </a:p>
          <a:p>
            <a:r>
              <a:rPr lang="es-ES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2.2.- Construidas	.- obsoletas</a:t>
            </a:r>
          </a:p>
          <a:p>
            <a:r>
              <a:rPr lang="es-ES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2.4.- Gastos-totales</a:t>
            </a:r>
          </a:p>
          <a:p>
            <a:r>
              <a:rPr lang="es-ES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2.5.- mantenimiento</a:t>
            </a:r>
          </a:p>
          <a:p>
            <a:r>
              <a:rPr lang="es-ES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2.6.- maquinaria-compra</a:t>
            </a:r>
          </a:p>
          <a:p>
            <a:r>
              <a:rPr lang="es-ES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2.7.- </a:t>
            </a:r>
            <a:r>
              <a:rPr lang="es-ES" sz="2800" b="1" spc="50" dirty="0" err="1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pago_técnicos_contratados</a:t>
            </a:r>
            <a:endParaRPr lang="es-ES" sz="2800" b="1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s-ES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2.8.- </a:t>
            </a:r>
            <a:r>
              <a:rPr lang="es-ES" sz="2800" b="1" spc="50" dirty="0" err="1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tasa_construcción</a:t>
            </a:r>
            <a:endParaRPr lang="es-ES" sz="2800" b="1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s-ES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2.9.- </a:t>
            </a:r>
            <a:r>
              <a:rPr lang="es-ES" sz="2800" b="1" spc="50" dirty="0" err="1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tasa_obsoleta</a:t>
            </a:r>
            <a:endParaRPr lang="es-ES" sz="2800" b="1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s-ES" sz="28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3.-Pistas</a:t>
            </a:r>
          </a:p>
          <a:p>
            <a:r>
              <a:rPr lang="es-ES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4.-Puenets</a:t>
            </a:r>
          </a:p>
          <a:p>
            <a:r>
              <a:rPr lang="es-ES" sz="28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5.-Veredas</a:t>
            </a:r>
          </a:p>
          <a:p>
            <a:pPr algn="ctr"/>
            <a:endParaRPr lang="es-ES" sz="2000" b="1" cap="none" spc="50" dirty="0">
              <a:ln w="0"/>
              <a:solidFill>
                <a:schemeClr val="accent3">
                  <a:lumMod val="10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6041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6CEA3F99-4807-48D9-86DD-46B6D9B18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" y="740094"/>
            <a:ext cx="11950700" cy="5377813"/>
          </a:xfrm>
          <a:prstGeom prst="rect">
            <a:avLst/>
          </a:prstGeom>
          <a:noFill/>
          <a:ln w="396875" cap="sq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60793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83D1587-38A8-43F7-9463-96AE8B4D9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17" y="394250"/>
            <a:ext cx="3351520" cy="29407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24A8325-1892-44F4-8DDA-87A853426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68" y="3666065"/>
            <a:ext cx="3287617" cy="31063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974FF3C-3B62-4AAD-BFA1-8E17E0203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811" y="259748"/>
            <a:ext cx="3402377" cy="3219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3CD754A-D51B-493D-8051-4F38ED23B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682" y="3812408"/>
            <a:ext cx="3373435" cy="29599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5212C00-0DB8-4AD9-8A4B-79DE2E8EB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455" y="569091"/>
            <a:ext cx="3287617" cy="31063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203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628608F-35F2-4829-889A-677EB9DFB2DD}"/>
              </a:ext>
            </a:extLst>
          </p:cNvPr>
          <p:cNvSpPr/>
          <p:nvPr/>
        </p:nvSpPr>
        <p:spPr>
          <a:xfrm>
            <a:off x="398435" y="-1"/>
            <a:ext cx="592649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Tablas de cada submodelo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6578A9D-52EA-4292-8F29-AD657B4E9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35" y="874544"/>
            <a:ext cx="109918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55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2350737-0453-414D-8B3A-0C30D8B87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81" y="436925"/>
            <a:ext cx="5691060" cy="281137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16178C1-6061-401D-94CB-0A412AFFD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81" y="3556415"/>
            <a:ext cx="6141594" cy="315022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2CB4864-7948-4F42-9F88-AD02F57AD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3314" y="3630517"/>
            <a:ext cx="4985036" cy="307611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3273853-60C2-43C9-B348-87CF42C910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202" y="352882"/>
            <a:ext cx="4985036" cy="307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8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628608F-35F2-4829-889A-677EB9DFB2DD}"/>
              </a:ext>
            </a:extLst>
          </p:cNvPr>
          <p:cNvSpPr/>
          <p:nvPr/>
        </p:nvSpPr>
        <p:spPr>
          <a:xfrm>
            <a:off x="1175477" y="-1"/>
            <a:ext cx="43724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Modelos </a:t>
            </a:r>
            <a:r>
              <a:rPr lang="es-ES" sz="40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Analiticos</a:t>
            </a:r>
            <a:endParaRPr lang="es-ES" sz="40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927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B394-538F-B8A2-916C-2742D26B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E9DA2DB4-846B-BB82-D535-F2C5FA00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22</a:t>
            </a:fld>
            <a:endParaRPr lang="es-ES" noProof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FEE25C-1849-6EBC-C850-A100112B1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554" y="241300"/>
            <a:ext cx="8284528" cy="598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15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30A0-C010-A0E7-203F-29ED2DF8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B3CC1BC2-2712-D287-E911-15E0C508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23</a:t>
            </a:fld>
            <a:endParaRPr lang="es-ES" noProof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3AEBFD-018A-B743-3D43-093F1E5A7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87" y="550640"/>
            <a:ext cx="10237813" cy="534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63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A7AF9-43B1-6CB0-BFBA-114E507E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F9674FA7-6888-0ADC-A384-C9E4E63B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24</a:t>
            </a:fld>
            <a:endParaRPr lang="es-ES" noProof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08617E-DF18-F37A-D91F-C220A37D7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508" y="852255"/>
            <a:ext cx="10046156" cy="550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23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FBDD297-F27B-49ED-BF6A-705698041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146617"/>
              </p:ext>
            </p:extLst>
          </p:nvPr>
        </p:nvGraphicFramePr>
        <p:xfrm>
          <a:off x="120316" y="935272"/>
          <a:ext cx="11951368" cy="5715083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478381">
                  <a:extLst>
                    <a:ext uri="{9D8B030D-6E8A-4147-A177-3AD203B41FA5}">
                      <a16:colId xmlns:a16="http://schemas.microsoft.com/office/drawing/2014/main" val="821089295"/>
                    </a:ext>
                  </a:extLst>
                </a:gridCol>
                <a:gridCol w="4410193">
                  <a:extLst>
                    <a:ext uri="{9D8B030D-6E8A-4147-A177-3AD203B41FA5}">
                      <a16:colId xmlns:a16="http://schemas.microsoft.com/office/drawing/2014/main" val="679906866"/>
                    </a:ext>
                  </a:extLst>
                </a:gridCol>
                <a:gridCol w="2098350">
                  <a:extLst>
                    <a:ext uri="{9D8B030D-6E8A-4147-A177-3AD203B41FA5}">
                      <a16:colId xmlns:a16="http://schemas.microsoft.com/office/drawing/2014/main" val="3583042063"/>
                    </a:ext>
                  </a:extLst>
                </a:gridCol>
                <a:gridCol w="2964444">
                  <a:extLst>
                    <a:ext uri="{9D8B030D-6E8A-4147-A177-3AD203B41FA5}">
                      <a16:colId xmlns:a16="http://schemas.microsoft.com/office/drawing/2014/main" val="3900277646"/>
                    </a:ext>
                  </a:extLst>
                </a:gridCol>
              </a:tblGrid>
              <a:tr h="355057"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DESCRIPCIÓN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UNIDAD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073201"/>
                  </a:ext>
                </a:extLst>
              </a:tr>
              <a:tr h="685279">
                <a:tc>
                  <a:txBody>
                    <a:bodyPr/>
                    <a:lstStyle/>
                    <a:p>
                      <a:pPr algn="ctr"/>
                      <a:r>
                        <a:rPr lang="es-PE" b="1" dirty="0"/>
                        <a:t>Retiro de CSV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Reducción en la cantidad de señalización vial.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Flujo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Unidades/mes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23952"/>
                  </a:ext>
                </a:extLst>
              </a:tr>
              <a:tr h="560001">
                <a:tc>
                  <a:txBody>
                    <a:bodyPr/>
                    <a:lstStyle/>
                    <a:p>
                      <a:pPr algn="ctr"/>
                      <a:r>
                        <a:rPr lang="es-PE" b="1" dirty="0"/>
                        <a:t>Total componentes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Suma total de componentes de infraestructura vial.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Nivel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Unidades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605380"/>
                  </a:ext>
                </a:extLst>
              </a:tr>
              <a:tr h="685279">
                <a:tc>
                  <a:txBody>
                    <a:bodyPr/>
                    <a:lstStyle/>
                    <a:p>
                      <a:pPr algn="ctr"/>
                      <a:r>
                        <a:rPr lang="es-PE" b="1" dirty="0"/>
                        <a:t>Aumento de componentes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Incremento total en los componentes de infraestructura vial.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Flujo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Unidades/mes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369049"/>
                  </a:ext>
                </a:extLst>
              </a:tr>
              <a:tr h="887643">
                <a:tc>
                  <a:txBody>
                    <a:bodyPr/>
                    <a:lstStyle/>
                    <a:p>
                      <a:pPr algn="ctr"/>
                      <a:r>
                        <a:rPr lang="es-PE" b="1" dirty="0"/>
                        <a:t>Retiro de componentes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Reducción total en los componentes de infraestructura vial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Flujo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Unidades/mes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953518"/>
                  </a:ext>
                </a:extLst>
              </a:tr>
              <a:tr h="621350">
                <a:tc>
                  <a:txBody>
                    <a:bodyPr/>
                    <a:lstStyle/>
                    <a:p>
                      <a:pPr algn="ctr"/>
                      <a:r>
                        <a:rPr lang="es-PE" b="1" dirty="0"/>
                        <a:t>Tasa de 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Tasa de aumento de ciclovías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Var. auxiliar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40812"/>
                  </a:ext>
                </a:extLst>
              </a:tr>
              <a:tr h="621350">
                <a:tc>
                  <a:txBody>
                    <a:bodyPr/>
                    <a:lstStyle/>
                    <a:p>
                      <a:pPr algn="ctr"/>
                      <a:r>
                        <a:rPr lang="es-PE" b="1" dirty="0"/>
                        <a:t>Tasa de ACIA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Tasa de Aumento de infraestructura de apoyo.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dirty="0"/>
                        <a:t>Var. auxiliar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723809"/>
                  </a:ext>
                </a:extLst>
              </a:tr>
              <a:tr h="621350">
                <a:tc>
                  <a:txBody>
                    <a:bodyPr/>
                    <a:lstStyle/>
                    <a:p>
                      <a:pPr algn="ctr"/>
                      <a:r>
                        <a:rPr lang="es-PE" b="1" dirty="0"/>
                        <a:t>Tasa de ACSV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Tasa de aumento de señalización vial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Var. auxiliar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502096"/>
                  </a:ext>
                </a:extLst>
              </a:tr>
              <a:tr h="568262">
                <a:tc>
                  <a:txBody>
                    <a:bodyPr/>
                    <a:lstStyle/>
                    <a:p>
                      <a:pPr algn="ctr"/>
                      <a:r>
                        <a:rPr lang="es-PE" b="1" dirty="0"/>
                        <a:t>Tasa de retiro 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Tasa de retiro de ciclovías.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Var. auxiliar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43706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4EF9CAE-0948-4E18-A91E-2F7446E9BA48}"/>
              </a:ext>
            </a:extLst>
          </p:cNvPr>
          <p:cNvSpPr/>
          <p:nvPr/>
        </p:nvSpPr>
        <p:spPr>
          <a:xfrm>
            <a:off x="2898006" y="136525"/>
            <a:ext cx="5712594" cy="65772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Componentes de infraestructura vial</a:t>
            </a:r>
          </a:p>
        </p:txBody>
      </p:sp>
    </p:spTree>
    <p:extLst>
      <p:ext uri="{BB962C8B-B14F-4D97-AF65-F5344CB8AC3E}">
        <p14:creationId xmlns:p14="http://schemas.microsoft.com/office/powerpoint/2010/main" val="3579982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pic>
        <p:nvPicPr>
          <p:cNvPr id="9" name="Imagen 7">
            <a:extLst>
              <a:ext uri="{FF2B5EF4-FFF2-40B4-BE49-F238E27FC236}">
                <a16:creationId xmlns:a16="http://schemas.microsoft.com/office/drawing/2014/main" id="{5E1AEB19-5827-4995-BA20-46E868506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72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2D06316A-8628-4EE7-8442-7C070A30D64C}"/>
              </a:ext>
            </a:extLst>
          </p:cNvPr>
          <p:cNvSpPr/>
          <p:nvPr/>
        </p:nvSpPr>
        <p:spPr>
          <a:xfrm>
            <a:off x="2821491" y="6289675"/>
            <a:ext cx="1847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es-E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6D18A59-E7CB-4507-AF70-3CE880B36E6A}"/>
              </a:ext>
            </a:extLst>
          </p:cNvPr>
          <p:cNvSpPr/>
          <p:nvPr/>
        </p:nvSpPr>
        <p:spPr>
          <a:xfrm>
            <a:off x="9184984" y="627380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es-E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7AE1455-7423-4E51-8E30-6BF97EB0FE10}"/>
              </a:ext>
            </a:extLst>
          </p:cNvPr>
          <p:cNvSpPr/>
          <p:nvPr/>
        </p:nvSpPr>
        <p:spPr>
          <a:xfrm>
            <a:off x="558800" y="299312"/>
            <a:ext cx="1384300" cy="522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s-ES" sz="28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python</a:t>
            </a:r>
            <a:endParaRPr lang="es-E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01DF65-947C-4E71-AA99-0F46F4E95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114" y="28575"/>
            <a:ext cx="597408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3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pic>
        <p:nvPicPr>
          <p:cNvPr id="3" name="Imagen 4">
            <a:extLst>
              <a:ext uri="{FF2B5EF4-FFF2-40B4-BE49-F238E27FC236}">
                <a16:creationId xmlns:a16="http://schemas.microsoft.com/office/drawing/2014/main" id="{A7C12C7C-D701-43DC-9D38-49129895B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3 Marcador de contenido">
            <a:extLst>
              <a:ext uri="{FF2B5EF4-FFF2-40B4-BE49-F238E27FC236}">
                <a16:creationId xmlns:a16="http://schemas.microsoft.com/office/drawing/2014/main" id="{11324994-E8F9-4019-8513-3AF290C9F4D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95400"/>
          <a:ext cx="11201400" cy="4876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Rectángulo 1">
            <a:extLst>
              <a:ext uri="{FF2B5EF4-FFF2-40B4-BE49-F238E27FC236}">
                <a16:creationId xmlns:a16="http://schemas.microsoft.com/office/drawing/2014/main" id="{8A70B122-292C-4618-BEED-1090150A1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1925"/>
            <a:ext cx="1954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ES" sz="2400" b="1">
                <a:solidFill>
                  <a:schemeClr val="bg1"/>
                </a:solidFill>
                <a:latin typeface="Arial Black" panose="020B0A04020102020204" pitchFamily="34" charset="0"/>
              </a:rPr>
              <a:t>Conexión: </a:t>
            </a:r>
            <a:endParaRPr lang="es-ES" altLang="es-ES" sz="2400">
              <a:latin typeface="Arial Black" panose="020B0A040201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85DBFF-B7A6-4927-8AF6-30B7074751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4200" y="4550879"/>
            <a:ext cx="914400" cy="962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n 4">
            <a:extLst>
              <a:ext uri="{FF2B5EF4-FFF2-40B4-BE49-F238E27FC236}">
                <a16:creationId xmlns:a16="http://schemas.microsoft.com/office/drawing/2014/main" id="{7A52BBFC-A943-4B49-9623-FAE53ABB2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484688"/>
            <a:ext cx="8667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B838BFE2-DBD8-4F34-BB26-A721030A7BFE}"/>
              </a:ext>
            </a:extLst>
          </p:cNvPr>
          <p:cNvSpPr/>
          <p:nvPr/>
        </p:nvSpPr>
        <p:spPr>
          <a:xfrm>
            <a:off x="9531350" y="4392613"/>
            <a:ext cx="1441450" cy="347662"/>
          </a:xfrm>
          <a:custGeom>
            <a:avLst/>
            <a:gdLst>
              <a:gd name="connsiteX0" fmla="*/ 1441174 w 1441174"/>
              <a:gd name="connsiteY0" fmla="*/ 347869 h 347869"/>
              <a:gd name="connsiteX1" fmla="*/ 1381539 w 1441174"/>
              <a:gd name="connsiteY1" fmla="*/ 258417 h 347869"/>
              <a:gd name="connsiteX2" fmla="*/ 1262270 w 1441174"/>
              <a:gd name="connsiteY2" fmla="*/ 188843 h 347869"/>
              <a:gd name="connsiteX3" fmla="*/ 1143000 w 1441174"/>
              <a:gd name="connsiteY3" fmla="*/ 129208 h 347869"/>
              <a:gd name="connsiteX4" fmla="*/ 1063487 w 1441174"/>
              <a:gd name="connsiteY4" fmla="*/ 99391 h 347869"/>
              <a:gd name="connsiteX5" fmla="*/ 1003852 w 1441174"/>
              <a:gd name="connsiteY5" fmla="*/ 79513 h 347869"/>
              <a:gd name="connsiteX6" fmla="*/ 954157 w 1441174"/>
              <a:gd name="connsiteY6" fmla="*/ 49695 h 347869"/>
              <a:gd name="connsiteX7" fmla="*/ 834887 w 1441174"/>
              <a:gd name="connsiteY7" fmla="*/ 39756 h 347869"/>
              <a:gd name="connsiteX8" fmla="*/ 665922 w 1441174"/>
              <a:gd name="connsiteY8" fmla="*/ 9939 h 347869"/>
              <a:gd name="connsiteX9" fmla="*/ 467139 w 1441174"/>
              <a:gd name="connsiteY9" fmla="*/ 0 h 347869"/>
              <a:gd name="connsiteX10" fmla="*/ 357809 w 1441174"/>
              <a:gd name="connsiteY10" fmla="*/ 9939 h 347869"/>
              <a:gd name="connsiteX11" fmla="*/ 228600 w 1441174"/>
              <a:gd name="connsiteY11" fmla="*/ 79513 h 347869"/>
              <a:gd name="connsiteX12" fmla="*/ 198783 w 1441174"/>
              <a:gd name="connsiteY12" fmla="*/ 89452 h 347869"/>
              <a:gd name="connsiteX13" fmla="*/ 168965 w 1441174"/>
              <a:gd name="connsiteY13" fmla="*/ 109330 h 347869"/>
              <a:gd name="connsiteX14" fmla="*/ 129209 w 1441174"/>
              <a:gd name="connsiteY14" fmla="*/ 119269 h 347869"/>
              <a:gd name="connsiteX15" fmla="*/ 49696 w 1441174"/>
              <a:gd name="connsiteY15" fmla="*/ 149087 h 347869"/>
              <a:gd name="connsiteX16" fmla="*/ 29817 w 1441174"/>
              <a:gd name="connsiteY16" fmla="*/ 168965 h 347869"/>
              <a:gd name="connsiteX17" fmla="*/ 0 w 1441174"/>
              <a:gd name="connsiteY17" fmla="*/ 178904 h 3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1174" h="347869">
                <a:moveTo>
                  <a:pt x="1441174" y="347869"/>
                </a:moveTo>
                <a:cubicBezTo>
                  <a:pt x="1430127" y="329458"/>
                  <a:pt x="1399543" y="274621"/>
                  <a:pt x="1381539" y="258417"/>
                </a:cubicBezTo>
                <a:cubicBezTo>
                  <a:pt x="1313817" y="197467"/>
                  <a:pt x="1328179" y="219859"/>
                  <a:pt x="1262270" y="188843"/>
                </a:cubicBezTo>
                <a:cubicBezTo>
                  <a:pt x="1222051" y="169917"/>
                  <a:pt x="1184619" y="144815"/>
                  <a:pt x="1143000" y="129208"/>
                </a:cubicBezTo>
                <a:lnTo>
                  <a:pt x="1063487" y="99391"/>
                </a:lnTo>
                <a:cubicBezTo>
                  <a:pt x="1043754" y="92344"/>
                  <a:pt x="1022927" y="88184"/>
                  <a:pt x="1003852" y="79513"/>
                </a:cubicBezTo>
                <a:cubicBezTo>
                  <a:pt x="986265" y="71519"/>
                  <a:pt x="972962" y="54120"/>
                  <a:pt x="954157" y="49695"/>
                </a:cubicBezTo>
                <a:cubicBezTo>
                  <a:pt x="915323" y="40557"/>
                  <a:pt x="874644" y="43069"/>
                  <a:pt x="834887" y="39756"/>
                </a:cubicBezTo>
                <a:cubicBezTo>
                  <a:pt x="770553" y="23672"/>
                  <a:pt x="752177" y="17780"/>
                  <a:pt x="665922" y="9939"/>
                </a:cubicBezTo>
                <a:cubicBezTo>
                  <a:pt x="599851" y="3933"/>
                  <a:pt x="533400" y="3313"/>
                  <a:pt x="467139" y="0"/>
                </a:cubicBezTo>
                <a:cubicBezTo>
                  <a:pt x="430696" y="3313"/>
                  <a:pt x="393776" y="3195"/>
                  <a:pt x="357809" y="9939"/>
                </a:cubicBezTo>
                <a:cubicBezTo>
                  <a:pt x="313815" y="18188"/>
                  <a:pt x="262414" y="61069"/>
                  <a:pt x="228600" y="79513"/>
                </a:cubicBezTo>
                <a:cubicBezTo>
                  <a:pt x="219403" y="84530"/>
                  <a:pt x="208154" y="84767"/>
                  <a:pt x="198783" y="89452"/>
                </a:cubicBezTo>
                <a:cubicBezTo>
                  <a:pt x="188099" y="94794"/>
                  <a:pt x="179945" y="104625"/>
                  <a:pt x="168965" y="109330"/>
                </a:cubicBezTo>
                <a:cubicBezTo>
                  <a:pt x="156410" y="114711"/>
                  <a:pt x="142343" y="115516"/>
                  <a:pt x="129209" y="119269"/>
                </a:cubicBezTo>
                <a:cubicBezTo>
                  <a:pt x="101935" y="127062"/>
                  <a:pt x="75964" y="138579"/>
                  <a:pt x="49696" y="149087"/>
                </a:cubicBezTo>
                <a:cubicBezTo>
                  <a:pt x="43070" y="155713"/>
                  <a:pt x="37852" y="164144"/>
                  <a:pt x="29817" y="168965"/>
                </a:cubicBezTo>
                <a:cubicBezTo>
                  <a:pt x="20833" y="174355"/>
                  <a:pt x="0" y="178904"/>
                  <a:pt x="0" y="178904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PE">
              <a:ln w="57150">
                <a:solidFill>
                  <a:schemeClr val="tx1"/>
                </a:solidFill>
              </a:ln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A6666AE-996B-4FCB-8395-131BBBDC78FA}"/>
              </a:ext>
            </a:extLst>
          </p:cNvPr>
          <p:cNvCxnSpPr>
            <a:cxnSpLocks/>
          </p:cNvCxnSpPr>
          <p:nvPr/>
        </p:nvCxnSpPr>
        <p:spPr>
          <a:xfrm>
            <a:off x="10655300" y="4543425"/>
            <a:ext cx="165100" cy="19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879A60F9-8808-4A20-A540-F167FB19F1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48046" y="424745"/>
            <a:ext cx="10050781" cy="60912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8C474EB-9DCB-4647-ADD0-975F50F289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97874" y="4315867"/>
            <a:ext cx="3568882" cy="220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83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pic>
        <p:nvPicPr>
          <p:cNvPr id="9" name="Imagen 7">
            <a:extLst>
              <a:ext uri="{FF2B5EF4-FFF2-40B4-BE49-F238E27FC236}">
                <a16:creationId xmlns:a16="http://schemas.microsoft.com/office/drawing/2014/main" id="{5E1AEB19-5827-4995-BA20-46E868506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72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3">
            <a:extLst>
              <a:ext uri="{FF2B5EF4-FFF2-40B4-BE49-F238E27FC236}">
                <a16:creationId xmlns:a16="http://schemas.microsoft.com/office/drawing/2014/main" id="{FA10DA8C-D177-406B-B9CF-4FFBD8CEE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618" y="-144642"/>
            <a:ext cx="9329738" cy="664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4F9BEA9-391A-4AB1-8C99-AF71B08997D3}"/>
              </a:ext>
            </a:extLst>
          </p:cNvPr>
          <p:cNvSpPr/>
          <p:nvPr/>
        </p:nvSpPr>
        <p:spPr>
          <a:xfrm rot="20269260">
            <a:off x="5089525" y="3433763"/>
            <a:ext cx="254158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s-E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 de Datos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06316A-8628-4EE7-8442-7C070A30D64C}"/>
              </a:ext>
            </a:extLst>
          </p:cNvPr>
          <p:cNvSpPr/>
          <p:nvPr/>
        </p:nvSpPr>
        <p:spPr>
          <a:xfrm>
            <a:off x="2333625" y="6289675"/>
            <a:ext cx="1160463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s-E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 . </a:t>
            </a:r>
            <a:r>
              <a:rPr lang="es-ES" sz="28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db</a:t>
            </a:r>
            <a:r>
              <a:rPr lang="es-E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6D18A59-E7CB-4507-AF70-3CE880B36E6A}"/>
              </a:ext>
            </a:extLst>
          </p:cNvPr>
          <p:cNvSpPr/>
          <p:nvPr/>
        </p:nvSpPr>
        <p:spPr>
          <a:xfrm>
            <a:off x="8496300" y="6273800"/>
            <a:ext cx="1562100" cy="522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s-E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 . s3db 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7AE1455-7423-4E51-8E30-6BF97EB0FE10}"/>
              </a:ext>
            </a:extLst>
          </p:cNvPr>
          <p:cNvSpPr/>
          <p:nvPr/>
        </p:nvSpPr>
        <p:spPr>
          <a:xfrm>
            <a:off x="254000" y="2459038"/>
            <a:ext cx="1384300" cy="522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s-ES" sz="28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python</a:t>
            </a:r>
            <a:endParaRPr lang="es-E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E5E2DE4-A025-47D5-825D-B9409438D8DF}"/>
              </a:ext>
            </a:extLst>
          </p:cNvPr>
          <p:cNvSpPr/>
          <p:nvPr/>
        </p:nvSpPr>
        <p:spPr>
          <a:xfrm>
            <a:off x="9434513" y="1447800"/>
            <a:ext cx="1123950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s-ES" sz="28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sqlite</a:t>
            </a:r>
            <a:endParaRPr lang="es-E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10CFB23-168C-493C-9C0A-5F99A846BF48}"/>
              </a:ext>
            </a:extLst>
          </p:cNvPr>
          <p:cNvCxnSpPr>
            <a:cxnSpLocks/>
          </p:cNvCxnSpPr>
          <p:nvPr/>
        </p:nvCxnSpPr>
        <p:spPr>
          <a:xfrm flipH="1" flipV="1">
            <a:off x="838200" y="2981325"/>
            <a:ext cx="1495425" cy="35544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FE6211E-17BB-47AA-9BC5-73740A1C83B4}"/>
              </a:ext>
            </a:extLst>
          </p:cNvPr>
          <p:cNvCxnSpPr>
            <a:cxnSpLocks/>
          </p:cNvCxnSpPr>
          <p:nvPr/>
        </p:nvCxnSpPr>
        <p:spPr>
          <a:xfrm flipV="1">
            <a:off x="9753600" y="1971675"/>
            <a:ext cx="242888" cy="183832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80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pic>
        <p:nvPicPr>
          <p:cNvPr id="3" name="Imagen 7">
            <a:extLst>
              <a:ext uri="{FF2B5EF4-FFF2-40B4-BE49-F238E27FC236}">
                <a16:creationId xmlns:a16="http://schemas.microsoft.com/office/drawing/2014/main" id="{EB1DC71D-D811-4120-B98A-40947A538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34"/>
            <a:ext cx="12192000" cy="672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168E91D7-1ADE-4F09-8466-B5AE571BF3F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129088" y="1300163"/>
            <a:ext cx="5216525" cy="83026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s-ES" altLang="es-ES" sz="240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:</a:t>
            </a:r>
          </a:p>
          <a:p>
            <a:pPr>
              <a:defRPr/>
            </a:pPr>
            <a:endParaRPr lang="es-ES" altLang="es-ES" sz="2400">
              <a:solidFill>
                <a:schemeClr val="bg2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5284915-1BA7-4191-A225-1E484F0D8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1755775"/>
            <a:ext cx="0" cy="110807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s-ES" altLang="es-ES" sz="2400">
                <a:solidFill>
                  <a:srgbClr val="FFFFFF"/>
                </a:solidFill>
                <a:latin typeface="inherit"/>
              </a:rPr>
            </a:br>
            <a:endParaRPr lang="es-ES" altLang="es-ES" sz="2400">
              <a:solidFill>
                <a:srgbClr val="FFFFFF"/>
              </a:solidFill>
              <a:latin typeface="inherit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ES" altLang="es-ES" sz="2400">
              <a:latin typeface="Arial" panose="020B0604020202020204" pitchFamily="34" charset="0"/>
            </a:endParaRPr>
          </a:p>
        </p:txBody>
      </p:sp>
      <p:sp>
        <p:nvSpPr>
          <p:cNvPr id="7" name="Rectángulo 3">
            <a:extLst>
              <a:ext uri="{FF2B5EF4-FFF2-40B4-BE49-F238E27FC236}">
                <a16:creationId xmlns:a16="http://schemas.microsoft.com/office/drawing/2014/main" id="{5FE97B19-453D-446D-9428-8F0CFDD13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95338"/>
            <a:ext cx="12431713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ES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1.- </a:t>
            </a:r>
            <a:r>
              <a:rPr lang="es-ES" altLang="es-ES" sz="2400" b="1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r>
              <a:rPr lang="es-ES" altLang="es-ES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ES" sz="2400" dirty="0">
                <a:solidFill>
                  <a:srgbClr val="99FF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sqlite3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ES" alt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E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2.- </a:t>
            </a:r>
            <a:r>
              <a:rPr lang="es-ES" altLang="es-ES" sz="2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</a:t>
            </a:r>
            <a:r>
              <a:rPr lang="es-ES" altLang="es-ES" sz="2400" dirty="0">
                <a:solidFill>
                  <a:srgbClr val="99FF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ES" altLang="es-ES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sqlite3.connect</a:t>
            </a:r>
            <a:r>
              <a:rPr lang="es-ES" altLang="es-ES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s-ES" altLang="es-ES" sz="24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FIIS.db</a:t>
            </a:r>
            <a:r>
              <a:rPr lang="es-ES" altLang="es-ES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ES" altLang="es-ES" sz="2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E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3.- </a:t>
            </a:r>
            <a:r>
              <a:rPr lang="es-ES" altLang="es-ES" sz="2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</a:t>
            </a:r>
            <a:r>
              <a:rPr lang="es-ES" altLang="es-E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ES" sz="2400" dirty="0">
                <a:solidFill>
                  <a:srgbClr val="006F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ES" altLang="es-ES" sz="2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conn.</a:t>
            </a:r>
            <a:r>
              <a:rPr lang="es-ES" alt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cursor</a:t>
            </a:r>
            <a:r>
              <a:rPr lang="es-ES" altLang="es-E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E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4.- </a:t>
            </a:r>
            <a:r>
              <a:rPr lang="es-ES" altLang="es-ES" sz="24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cur.</a:t>
            </a:r>
            <a:r>
              <a:rPr lang="es-ES" altLang="es-ES" sz="24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es-ES" altLang="es-E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('</a:t>
            </a:r>
            <a:r>
              <a:rPr lang="es-ES" altLang="es-ES" sz="2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s-ES" altLang="es-E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  </a:t>
            </a:r>
            <a:r>
              <a:rPr lang="es-ES" altLang="es-ES" sz="2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s-ES" altLang="es-E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Alumnos’)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2400" dirty="0">
                <a:solidFill>
                  <a:schemeClr val="bg1"/>
                </a:solidFill>
                <a:latin typeface="Arial" panose="020B0604020202020204" pitchFamily="34" charset="0"/>
              </a:rPr>
              <a:t>	usuarios = </a:t>
            </a:r>
            <a:r>
              <a:rPr lang="es-PE" altLang="es-PE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cur.fetchall</a:t>
            </a:r>
            <a:r>
              <a:rPr lang="es-PE" altLang="es-PE" sz="2400" dirty="0">
                <a:solidFill>
                  <a:schemeClr val="bg1"/>
                </a:solidFill>
                <a:latin typeface="Arial" panose="020B0604020202020204" pitchFamily="34" charset="0"/>
              </a:rPr>
              <a:t>()# Recorre registros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2400" dirty="0">
                <a:solidFill>
                  <a:schemeClr val="bg1"/>
                </a:solidFill>
                <a:latin typeface="Arial" panose="020B0604020202020204" pitchFamily="34" charset="0"/>
              </a:rPr>
              <a:t>	i=0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E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5.- </a:t>
            </a:r>
            <a:r>
              <a:rPr lang="es-ES" altLang="es-E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altLang="es-E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E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es-ES" alt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altLang="es-E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s-ES" alt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usuarios: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   </a:t>
            </a:r>
            <a:r>
              <a:rPr lang="es-PE" altLang="es-PE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2400" dirty="0">
                <a:solidFill>
                  <a:schemeClr val="bg1"/>
                </a:solidFill>
                <a:latin typeface="Arial" panose="020B0604020202020204" pitchFamily="34" charset="0"/>
              </a:rPr>
              <a:t>("  Nro. </a:t>
            </a:r>
            <a:r>
              <a:rPr lang="es-PE" altLang="es-PE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Codigo</a:t>
            </a:r>
            <a:r>
              <a:rPr lang="es-PE" altLang="es-PE" sz="2400" dirty="0">
                <a:solidFill>
                  <a:schemeClr val="bg1"/>
                </a:solidFill>
                <a:latin typeface="Arial" panose="020B0604020202020204" pitchFamily="34" charset="0"/>
              </a:rPr>
              <a:t> Apellido Nombre Edad  ")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2400" dirty="0">
                <a:solidFill>
                  <a:schemeClr val="bg1"/>
                </a:solidFill>
                <a:latin typeface="Arial" panose="020B0604020202020204" pitchFamily="34" charset="0"/>
              </a:rPr>
              <a:t>       </a:t>
            </a:r>
            <a:r>
              <a:rPr lang="es-PE" altLang="es-PE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2400" dirty="0">
                <a:solidFill>
                  <a:schemeClr val="bg1"/>
                </a:solidFill>
                <a:latin typeface="Arial" panose="020B0604020202020204" pitchFamily="34" charset="0"/>
              </a:rPr>
              <a:t> ("     ",i+1,".-   ",usuarios[i])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2400" dirty="0">
                <a:solidFill>
                  <a:schemeClr val="bg1"/>
                </a:solidFill>
                <a:latin typeface="Arial" panose="020B0604020202020204" pitchFamily="34" charset="0"/>
              </a:rPr>
              <a:t>       i=i+1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6.- </a:t>
            </a:r>
            <a:r>
              <a:rPr lang="es-ES" alt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Conn.commit</a:t>
            </a:r>
            <a:r>
              <a:rPr lang="es-ES" alt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     //finalizar con transacción de </a:t>
            </a:r>
            <a:r>
              <a:rPr lang="es-ES" alt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bd</a:t>
            </a:r>
            <a:endParaRPr lang="es-ES" altLang="es-E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7.- </a:t>
            </a:r>
            <a:r>
              <a:rPr lang="es-ES" alt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cur.close</a:t>
            </a:r>
            <a:r>
              <a:rPr lang="es-ES" alt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            //</a:t>
            </a:r>
            <a:r>
              <a:rPr lang="es-PE" altLang="es-ES" sz="2400" dirty="0">
                <a:solidFill>
                  <a:schemeClr val="bg1"/>
                </a:solidFill>
                <a:latin typeface="Arial" panose="020B0604020202020204" pitchFamily="34" charset="0"/>
              </a:rPr>
              <a:t>cerrar </a:t>
            </a:r>
            <a:r>
              <a:rPr lang="es-PE" altLang="es-ES" sz="2400" b="1" dirty="0">
                <a:solidFill>
                  <a:schemeClr val="bg1"/>
                </a:solidFill>
                <a:latin typeface="Arial" panose="020B0604020202020204" pitchFamily="34" charset="0"/>
              </a:rPr>
              <a:t>conexión</a:t>
            </a:r>
            <a:r>
              <a:rPr lang="es-PE" altLang="es-ES" sz="2400" dirty="0">
                <a:solidFill>
                  <a:schemeClr val="bg1"/>
                </a:solidFill>
                <a:latin typeface="Arial" panose="020B0604020202020204" pitchFamily="34" charset="0"/>
              </a:rPr>
              <a:t> a </a:t>
            </a:r>
            <a:r>
              <a:rPr lang="es-PE" altLang="es-E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sql</a:t>
            </a:r>
            <a:endParaRPr lang="es-ES" altLang="es-E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8C9D71-AAA4-49B4-A265-209B9C64CCC4}"/>
              </a:ext>
            </a:extLst>
          </p:cNvPr>
          <p:cNvSpPr/>
          <p:nvPr/>
        </p:nvSpPr>
        <p:spPr>
          <a:xfrm>
            <a:off x="-19538" y="-152400"/>
            <a:ext cx="330090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defRPr/>
            </a:pPr>
            <a:r>
              <a:rPr lang="es-ES" sz="5400" b="1" dirty="0">
                <a:ln/>
                <a:solidFill>
                  <a:schemeClr val="bg1"/>
                </a:solidFill>
              </a:rPr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122265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1ED9CEB-41EB-4CBA-AA22-7AB737EFD88B}"/>
              </a:ext>
            </a:extLst>
          </p:cNvPr>
          <p:cNvSpPr txBox="1"/>
          <p:nvPr/>
        </p:nvSpPr>
        <p:spPr>
          <a:xfrm>
            <a:off x="1280160" y="238711"/>
            <a:ext cx="79748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from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datetime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import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*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import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sqlite3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def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crear_BD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():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("\n\t1.- Creando Base de Datos : Alumnos2025.db ")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("-"*70)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con = sqlite3.connect('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Alumnos.db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')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(" \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tBase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de Datos fue creada con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exito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....")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("-"*70)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("\n\t2.-  Creando tabla Alumnos(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cod,apell,nomb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ed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)")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cur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=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con.cursor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cur.execute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('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create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table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if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not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exists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Alumnos(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cod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integer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PRIMARY KEY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not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null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,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apell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varchar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(20)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null,nomb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varchar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(20)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null,ed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integer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null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)')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("\n\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tTabla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Alumnos, fue creada con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exito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.....")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("-"*70)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hora=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datetime.now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("\n\t\t\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tFecha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de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transaccion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: ",hora)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print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("-"*90)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con.commit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con.close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59789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" y="-82731"/>
            <a:ext cx="12340046" cy="694073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D70C671-7FE2-47F0-B33B-94401AE7F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087" y="259079"/>
            <a:ext cx="7309184" cy="625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0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1ED9CEB-41EB-4CBA-AA22-7AB737EFD88B}"/>
              </a:ext>
            </a:extLst>
          </p:cNvPr>
          <p:cNvSpPr txBox="1"/>
          <p:nvPr/>
        </p:nvSpPr>
        <p:spPr>
          <a:xfrm>
            <a:off x="3694612" y="3068996"/>
            <a:ext cx="797487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ES" altLang="es-PE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8800" dirty="0">
                <a:solidFill>
                  <a:schemeClr val="bg1"/>
                </a:solidFill>
                <a:latin typeface="Arial" panose="020B0604020202020204" pitchFamily="34" charset="0"/>
              </a:rPr>
              <a:t>Tareas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DD761F-0A15-4F4E-AB5A-241848883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92" y="171996"/>
            <a:ext cx="10467012" cy="626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639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1ED9CEB-41EB-4CBA-AA22-7AB737EFD88B}"/>
              </a:ext>
            </a:extLst>
          </p:cNvPr>
          <p:cNvSpPr txBox="1"/>
          <p:nvPr/>
        </p:nvSpPr>
        <p:spPr>
          <a:xfrm>
            <a:off x="3694612" y="3068996"/>
            <a:ext cx="797487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ES" altLang="es-PE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8800" dirty="0">
                <a:solidFill>
                  <a:schemeClr val="bg1"/>
                </a:solidFill>
                <a:latin typeface="Arial" panose="020B0604020202020204" pitchFamily="34" charset="0"/>
              </a:rPr>
              <a:t>Tareas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577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40046" cy="694073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1ED9CEB-41EB-4CBA-AA22-7AB737EFD88B}"/>
              </a:ext>
            </a:extLst>
          </p:cNvPr>
          <p:cNvSpPr txBox="1"/>
          <p:nvPr/>
        </p:nvSpPr>
        <p:spPr>
          <a:xfrm>
            <a:off x="3694612" y="3068996"/>
            <a:ext cx="797487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ES" altLang="es-PE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8800" dirty="0">
                <a:solidFill>
                  <a:schemeClr val="bg1"/>
                </a:solidFill>
                <a:latin typeface="Arial" panose="020B0604020202020204" pitchFamily="34" charset="0"/>
              </a:rPr>
              <a:t>Tareas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9D1D67-CA91-4F9D-962B-51450FEEA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569" y="343987"/>
            <a:ext cx="88328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7273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9669"/>
            <a:ext cx="12340046" cy="701039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1ED9CEB-41EB-4CBA-AA22-7AB737EFD88B}"/>
              </a:ext>
            </a:extLst>
          </p:cNvPr>
          <p:cNvSpPr txBox="1"/>
          <p:nvPr/>
        </p:nvSpPr>
        <p:spPr>
          <a:xfrm>
            <a:off x="174172" y="18313"/>
            <a:ext cx="11591108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3600" dirty="0">
                <a:solidFill>
                  <a:srgbClr val="00B050"/>
                </a:solidFill>
                <a:latin typeface="Arial" panose="020B0604020202020204" pitchFamily="34" charset="0"/>
              </a:rPr>
              <a:t>Falta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dirty="0">
                <a:solidFill>
                  <a:srgbClr val="00B050"/>
                </a:solidFill>
                <a:latin typeface="Arial" panose="020B0604020202020204" pitchFamily="34" charset="0"/>
              </a:rPr>
              <a:t>Tarea 1(viernes 29 ).- parte I.-  propuesta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simulación del  de los indicadores  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asiganados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 : </a:t>
            </a:r>
          </a:p>
          <a:p>
            <a:pPr>
              <a:spcBef>
                <a:spcPct val="0"/>
              </a:spcBef>
            </a:pPr>
            <a:r>
              <a:rPr lang="es-PE" altLang="es-PE" b="1" dirty="0">
                <a:solidFill>
                  <a:srgbClr val="FFFF00"/>
                </a:solidFill>
                <a:latin typeface="Arial" panose="020B0604020202020204" pitchFamily="34" charset="0"/>
              </a:rPr>
              <a:t>Procesar tu base de  datos: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 usando  Python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 crea tu base  de datos, las columnas son variables del modelo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 tus submodelos son 5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Para cada modelo deveras crear tu tabla y mostrar sus columnas en forma grafica, tablas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En las tablas recorrer el máximo de filas y mostrar todas las columnas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b="1" dirty="0">
                <a:solidFill>
                  <a:srgbClr val="FFFF00"/>
                </a:solidFill>
                <a:latin typeface="Arial" panose="020B0604020202020204" pitchFamily="34" charset="0"/>
              </a:rPr>
              <a:t>Procesa </a:t>
            </a:r>
            <a:r>
              <a:rPr lang="es-PE" altLang="es-PE" b="1" dirty="0" err="1">
                <a:solidFill>
                  <a:srgbClr val="FFFF00"/>
                </a:solidFill>
                <a:latin typeface="Arial" panose="020B0604020202020204" pitchFamily="34" charset="0"/>
              </a:rPr>
              <a:t>rel</a:t>
            </a:r>
            <a:r>
              <a:rPr lang="es-PE" altLang="es-PE" b="1" dirty="0">
                <a:solidFill>
                  <a:srgbClr val="FFFF00"/>
                </a:solidFill>
                <a:latin typeface="Arial" panose="020B0604020202020204" pitchFamily="34" charset="0"/>
              </a:rPr>
              <a:t> modelo con </a:t>
            </a:r>
            <a:r>
              <a:rPr lang="es-PE" altLang="es-PE" b="1" dirty="0" err="1">
                <a:solidFill>
                  <a:srgbClr val="FFFF00"/>
                </a:solidFill>
                <a:latin typeface="Arial" panose="020B0604020202020204" pitchFamily="34" charset="0"/>
              </a:rPr>
              <a:t>Vensim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: usar librería 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PySD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 para mostrar solo sus 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graficos</a:t>
            </a: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Tarea 2 (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Miercoles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  4 ).- parte II.-terminado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Tarea 3.- 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xmpp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mysq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, web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8F38FAE-1977-4CC4-A196-299E9FB9E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2" y="3274079"/>
            <a:ext cx="1270592" cy="13367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n 4">
            <a:extLst>
              <a:ext uri="{FF2B5EF4-FFF2-40B4-BE49-F238E27FC236}">
                <a16:creationId xmlns:a16="http://schemas.microsoft.com/office/drawing/2014/main" id="{40A2BA28-F13D-45CF-8914-E7A7A176C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040" y="3238544"/>
            <a:ext cx="1126352" cy="133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5A3B692C-D67A-41C1-A831-42F27B742C77}"/>
              </a:ext>
            </a:extLst>
          </p:cNvPr>
          <p:cNvSpPr/>
          <p:nvPr/>
        </p:nvSpPr>
        <p:spPr>
          <a:xfrm>
            <a:off x="4044244" y="3081338"/>
            <a:ext cx="1441450" cy="347662"/>
          </a:xfrm>
          <a:custGeom>
            <a:avLst/>
            <a:gdLst>
              <a:gd name="connsiteX0" fmla="*/ 1441174 w 1441174"/>
              <a:gd name="connsiteY0" fmla="*/ 347869 h 347869"/>
              <a:gd name="connsiteX1" fmla="*/ 1381539 w 1441174"/>
              <a:gd name="connsiteY1" fmla="*/ 258417 h 347869"/>
              <a:gd name="connsiteX2" fmla="*/ 1262270 w 1441174"/>
              <a:gd name="connsiteY2" fmla="*/ 188843 h 347869"/>
              <a:gd name="connsiteX3" fmla="*/ 1143000 w 1441174"/>
              <a:gd name="connsiteY3" fmla="*/ 129208 h 347869"/>
              <a:gd name="connsiteX4" fmla="*/ 1063487 w 1441174"/>
              <a:gd name="connsiteY4" fmla="*/ 99391 h 347869"/>
              <a:gd name="connsiteX5" fmla="*/ 1003852 w 1441174"/>
              <a:gd name="connsiteY5" fmla="*/ 79513 h 347869"/>
              <a:gd name="connsiteX6" fmla="*/ 954157 w 1441174"/>
              <a:gd name="connsiteY6" fmla="*/ 49695 h 347869"/>
              <a:gd name="connsiteX7" fmla="*/ 834887 w 1441174"/>
              <a:gd name="connsiteY7" fmla="*/ 39756 h 347869"/>
              <a:gd name="connsiteX8" fmla="*/ 665922 w 1441174"/>
              <a:gd name="connsiteY8" fmla="*/ 9939 h 347869"/>
              <a:gd name="connsiteX9" fmla="*/ 467139 w 1441174"/>
              <a:gd name="connsiteY9" fmla="*/ 0 h 347869"/>
              <a:gd name="connsiteX10" fmla="*/ 357809 w 1441174"/>
              <a:gd name="connsiteY10" fmla="*/ 9939 h 347869"/>
              <a:gd name="connsiteX11" fmla="*/ 228600 w 1441174"/>
              <a:gd name="connsiteY11" fmla="*/ 79513 h 347869"/>
              <a:gd name="connsiteX12" fmla="*/ 198783 w 1441174"/>
              <a:gd name="connsiteY12" fmla="*/ 89452 h 347869"/>
              <a:gd name="connsiteX13" fmla="*/ 168965 w 1441174"/>
              <a:gd name="connsiteY13" fmla="*/ 109330 h 347869"/>
              <a:gd name="connsiteX14" fmla="*/ 129209 w 1441174"/>
              <a:gd name="connsiteY14" fmla="*/ 119269 h 347869"/>
              <a:gd name="connsiteX15" fmla="*/ 49696 w 1441174"/>
              <a:gd name="connsiteY15" fmla="*/ 149087 h 347869"/>
              <a:gd name="connsiteX16" fmla="*/ 29817 w 1441174"/>
              <a:gd name="connsiteY16" fmla="*/ 168965 h 347869"/>
              <a:gd name="connsiteX17" fmla="*/ 0 w 1441174"/>
              <a:gd name="connsiteY17" fmla="*/ 178904 h 3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1174" h="347869">
                <a:moveTo>
                  <a:pt x="1441174" y="347869"/>
                </a:moveTo>
                <a:cubicBezTo>
                  <a:pt x="1430127" y="329458"/>
                  <a:pt x="1399543" y="274621"/>
                  <a:pt x="1381539" y="258417"/>
                </a:cubicBezTo>
                <a:cubicBezTo>
                  <a:pt x="1313817" y="197467"/>
                  <a:pt x="1328179" y="219859"/>
                  <a:pt x="1262270" y="188843"/>
                </a:cubicBezTo>
                <a:cubicBezTo>
                  <a:pt x="1222051" y="169917"/>
                  <a:pt x="1184619" y="144815"/>
                  <a:pt x="1143000" y="129208"/>
                </a:cubicBezTo>
                <a:lnTo>
                  <a:pt x="1063487" y="99391"/>
                </a:lnTo>
                <a:cubicBezTo>
                  <a:pt x="1043754" y="92344"/>
                  <a:pt x="1022927" y="88184"/>
                  <a:pt x="1003852" y="79513"/>
                </a:cubicBezTo>
                <a:cubicBezTo>
                  <a:pt x="986265" y="71519"/>
                  <a:pt x="972962" y="54120"/>
                  <a:pt x="954157" y="49695"/>
                </a:cubicBezTo>
                <a:cubicBezTo>
                  <a:pt x="915323" y="40557"/>
                  <a:pt x="874644" y="43069"/>
                  <a:pt x="834887" y="39756"/>
                </a:cubicBezTo>
                <a:cubicBezTo>
                  <a:pt x="770553" y="23672"/>
                  <a:pt x="752177" y="17780"/>
                  <a:pt x="665922" y="9939"/>
                </a:cubicBezTo>
                <a:cubicBezTo>
                  <a:pt x="599851" y="3933"/>
                  <a:pt x="533400" y="3313"/>
                  <a:pt x="467139" y="0"/>
                </a:cubicBezTo>
                <a:cubicBezTo>
                  <a:pt x="430696" y="3313"/>
                  <a:pt x="393776" y="3195"/>
                  <a:pt x="357809" y="9939"/>
                </a:cubicBezTo>
                <a:cubicBezTo>
                  <a:pt x="313815" y="18188"/>
                  <a:pt x="262414" y="61069"/>
                  <a:pt x="228600" y="79513"/>
                </a:cubicBezTo>
                <a:cubicBezTo>
                  <a:pt x="219403" y="84530"/>
                  <a:pt x="208154" y="84767"/>
                  <a:pt x="198783" y="89452"/>
                </a:cubicBezTo>
                <a:cubicBezTo>
                  <a:pt x="188099" y="94794"/>
                  <a:pt x="179945" y="104625"/>
                  <a:pt x="168965" y="109330"/>
                </a:cubicBezTo>
                <a:cubicBezTo>
                  <a:pt x="156410" y="114711"/>
                  <a:pt x="142343" y="115516"/>
                  <a:pt x="129209" y="119269"/>
                </a:cubicBezTo>
                <a:cubicBezTo>
                  <a:pt x="101935" y="127062"/>
                  <a:pt x="75964" y="138579"/>
                  <a:pt x="49696" y="149087"/>
                </a:cubicBezTo>
                <a:cubicBezTo>
                  <a:pt x="43070" y="155713"/>
                  <a:pt x="37852" y="164144"/>
                  <a:pt x="29817" y="168965"/>
                </a:cubicBezTo>
                <a:cubicBezTo>
                  <a:pt x="20833" y="174355"/>
                  <a:pt x="0" y="178904"/>
                  <a:pt x="0" y="178904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PE">
              <a:ln w="57150">
                <a:solidFill>
                  <a:schemeClr val="tx1"/>
                </a:solidFill>
              </a:ln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B75C80C-7C12-4C26-AEBF-38E6CB823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789" y="2764084"/>
            <a:ext cx="3924164" cy="19712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EB1DD3C-ED2E-43A7-AE3C-935E91FE4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779" y="4418107"/>
            <a:ext cx="3724977" cy="23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745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9669"/>
            <a:ext cx="12340046" cy="701039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1ED9CEB-41EB-4CBA-AA22-7AB737EFD88B}"/>
              </a:ext>
            </a:extLst>
          </p:cNvPr>
          <p:cNvSpPr txBox="1"/>
          <p:nvPr/>
        </p:nvSpPr>
        <p:spPr>
          <a:xfrm>
            <a:off x="174172" y="18313"/>
            <a:ext cx="11591108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sz="3600" dirty="0">
                <a:solidFill>
                  <a:srgbClr val="00B050"/>
                </a:solidFill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PE" altLang="es-PE" dirty="0">
                <a:solidFill>
                  <a:srgbClr val="00B050"/>
                </a:solidFill>
                <a:latin typeface="Arial" panose="020B0604020202020204" pitchFamily="34" charset="0"/>
              </a:rPr>
              <a:t>Tarea 2(viernes 6 ).- parte I.-  propuesta   </a:t>
            </a:r>
          </a:p>
          <a:p>
            <a:pPr>
              <a:spcBef>
                <a:spcPct val="0"/>
              </a:spcBef>
            </a:pPr>
            <a:r>
              <a:rPr lang="es-PE" altLang="es-PE" dirty="0" err="1">
                <a:solidFill>
                  <a:srgbClr val="00B050"/>
                </a:solidFill>
                <a:latin typeface="Arial" panose="020B0604020202020204" pitchFamily="34" charset="0"/>
              </a:rPr>
              <a:t>Tdemas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.- 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xmpp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s-PE" altLang="es-PE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mysq</a:t>
            </a:r>
            <a:r>
              <a:rPr lang="es-PE" altLang="es-PE" sz="1800" dirty="0">
                <a:solidFill>
                  <a:schemeClr val="bg1"/>
                </a:solidFill>
                <a:latin typeface="Arial" panose="020B0604020202020204" pitchFamily="34" charset="0"/>
              </a:rPr>
              <a:t>, web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simulación del  de los indicadores  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asiganados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 : </a:t>
            </a:r>
          </a:p>
          <a:p>
            <a:pPr>
              <a:spcBef>
                <a:spcPct val="0"/>
              </a:spcBef>
            </a:pPr>
            <a:r>
              <a:rPr lang="es-PE" altLang="es-PE" b="1" dirty="0">
                <a:solidFill>
                  <a:srgbClr val="FFFF00"/>
                </a:solidFill>
                <a:latin typeface="Arial" panose="020B0604020202020204" pitchFamily="34" charset="0"/>
              </a:rPr>
              <a:t>Procesar tu base de  datos: </a:t>
            </a:r>
            <a:r>
              <a:rPr lang="es-PE" altLang="es-PE" b="1" dirty="0" err="1">
                <a:solidFill>
                  <a:srgbClr val="FFFF00"/>
                </a:solidFill>
                <a:latin typeface="Arial" panose="020B0604020202020204" pitchFamily="34" charset="0"/>
              </a:rPr>
              <a:t>mysql</a:t>
            </a:r>
            <a:endParaRPr lang="es-PE" altLang="es-PE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s-PE" altLang="es-PE" b="1" dirty="0">
                <a:solidFill>
                  <a:srgbClr val="FFFF00"/>
                </a:solidFill>
                <a:latin typeface="Arial" panose="020B0604020202020204" pitchFamily="34" charset="0"/>
              </a:rPr>
              <a:t>Servidor  : apache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endParaRPr lang="es-PE" altLang="es-PE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b="1" dirty="0">
                <a:solidFill>
                  <a:srgbClr val="FFFF00"/>
                </a:solidFill>
                <a:latin typeface="Arial" panose="020B0604020202020204" pitchFamily="34" charset="0"/>
              </a:rPr>
              <a:t>Procesa </a:t>
            </a:r>
            <a:r>
              <a:rPr lang="es-PE" altLang="es-PE" b="1" dirty="0" err="1">
                <a:solidFill>
                  <a:srgbClr val="FFFF00"/>
                </a:solidFill>
                <a:latin typeface="Arial" panose="020B0604020202020204" pitchFamily="34" charset="0"/>
              </a:rPr>
              <a:t>rel</a:t>
            </a:r>
            <a:r>
              <a:rPr lang="es-PE" altLang="es-PE" b="1" dirty="0">
                <a:solidFill>
                  <a:srgbClr val="FFFF00"/>
                </a:solidFill>
                <a:latin typeface="Arial" panose="020B0604020202020204" pitchFamily="34" charset="0"/>
              </a:rPr>
              <a:t> modelo con </a:t>
            </a:r>
            <a:r>
              <a:rPr lang="es-PE" altLang="es-PE" b="1" dirty="0" err="1">
                <a:solidFill>
                  <a:srgbClr val="FFFF00"/>
                </a:solidFill>
                <a:latin typeface="Arial" panose="020B0604020202020204" pitchFamily="34" charset="0"/>
              </a:rPr>
              <a:t>Vensim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: usar librería 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PySD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 para mostrar solo sus 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graficos</a:t>
            </a: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Tarea 2 (Miércoles  11 ).- parte II.-terminado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Tarea final:- 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sutitutorio</a:t>
            </a:r>
            <a:r>
              <a:rPr lang="es-PE" altLang="es-PE" dirty="0">
                <a:solidFill>
                  <a:schemeClr val="bg1"/>
                </a:solidFill>
                <a:latin typeface="Arial" panose="020B0604020202020204" pitchFamily="34" charset="0"/>
              </a:rPr>
              <a:t> : 16 </a:t>
            </a:r>
            <a:r>
              <a:rPr lang="es-PE" altLang="es-PE" dirty="0" err="1">
                <a:solidFill>
                  <a:schemeClr val="bg1"/>
                </a:solidFill>
                <a:latin typeface="Arial" panose="020B0604020202020204" pitchFamily="34" charset="0"/>
              </a:rPr>
              <a:t>juni</a:t>
            </a: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8F38FAE-1977-4CC4-A196-299E9FB9E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2" y="3274079"/>
            <a:ext cx="1270592" cy="13367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n 4">
            <a:extLst>
              <a:ext uri="{FF2B5EF4-FFF2-40B4-BE49-F238E27FC236}">
                <a16:creationId xmlns:a16="http://schemas.microsoft.com/office/drawing/2014/main" id="{40A2BA28-F13D-45CF-8914-E7A7A176C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040" y="3238544"/>
            <a:ext cx="1126352" cy="133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5A3B692C-D67A-41C1-A831-42F27B742C77}"/>
              </a:ext>
            </a:extLst>
          </p:cNvPr>
          <p:cNvSpPr/>
          <p:nvPr/>
        </p:nvSpPr>
        <p:spPr>
          <a:xfrm>
            <a:off x="4044244" y="3081338"/>
            <a:ext cx="1441450" cy="347662"/>
          </a:xfrm>
          <a:custGeom>
            <a:avLst/>
            <a:gdLst>
              <a:gd name="connsiteX0" fmla="*/ 1441174 w 1441174"/>
              <a:gd name="connsiteY0" fmla="*/ 347869 h 347869"/>
              <a:gd name="connsiteX1" fmla="*/ 1381539 w 1441174"/>
              <a:gd name="connsiteY1" fmla="*/ 258417 h 347869"/>
              <a:gd name="connsiteX2" fmla="*/ 1262270 w 1441174"/>
              <a:gd name="connsiteY2" fmla="*/ 188843 h 347869"/>
              <a:gd name="connsiteX3" fmla="*/ 1143000 w 1441174"/>
              <a:gd name="connsiteY3" fmla="*/ 129208 h 347869"/>
              <a:gd name="connsiteX4" fmla="*/ 1063487 w 1441174"/>
              <a:gd name="connsiteY4" fmla="*/ 99391 h 347869"/>
              <a:gd name="connsiteX5" fmla="*/ 1003852 w 1441174"/>
              <a:gd name="connsiteY5" fmla="*/ 79513 h 347869"/>
              <a:gd name="connsiteX6" fmla="*/ 954157 w 1441174"/>
              <a:gd name="connsiteY6" fmla="*/ 49695 h 347869"/>
              <a:gd name="connsiteX7" fmla="*/ 834887 w 1441174"/>
              <a:gd name="connsiteY7" fmla="*/ 39756 h 347869"/>
              <a:gd name="connsiteX8" fmla="*/ 665922 w 1441174"/>
              <a:gd name="connsiteY8" fmla="*/ 9939 h 347869"/>
              <a:gd name="connsiteX9" fmla="*/ 467139 w 1441174"/>
              <a:gd name="connsiteY9" fmla="*/ 0 h 347869"/>
              <a:gd name="connsiteX10" fmla="*/ 357809 w 1441174"/>
              <a:gd name="connsiteY10" fmla="*/ 9939 h 347869"/>
              <a:gd name="connsiteX11" fmla="*/ 228600 w 1441174"/>
              <a:gd name="connsiteY11" fmla="*/ 79513 h 347869"/>
              <a:gd name="connsiteX12" fmla="*/ 198783 w 1441174"/>
              <a:gd name="connsiteY12" fmla="*/ 89452 h 347869"/>
              <a:gd name="connsiteX13" fmla="*/ 168965 w 1441174"/>
              <a:gd name="connsiteY13" fmla="*/ 109330 h 347869"/>
              <a:gd name="connsiteX14" fmla="*/ 129209 w 1441174"/>
              <a:gd name="connsiteY14" fmla="*/ 119269 h 347869"/>
              <a:gd name="connsiteX15" fmla="*/ 49696 w 1441174"/>
              <a:gd name="connsiteY15" fmla="*/ 149087 h 347869"/>
              <a:gd name="connsiteX16" fmla="*/ 29817 w 1441174"/>
              <a:gd name="connsiteY16" fmla="*/ 168965 h 347869"/>
              <a:gd name="connsiteX17" fmla="*/ 0 w 1441174"/>
              <a:gd name="connsiteY17" fmla="*/ 178904 h 3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1174" h="347869">
                <a:moveTo>
                  <a:pt x="1441174" y="347869"/>
                </a:moveTo>
                <a:cubicBezTo>
                  <a:pt x="1430127" y="329458"/>
                  <a:pt x="1399543" y="274621"/>
                  <a:pt x="1381539" y="258417"/>
                </a:cubicBezTo>
                <a:cubicBezTo>
                  <a:pt x="1313817" y="197467"/>
                  <a:pt x="1328179" y="219859"/>
                  <a:pt x="1262270" y="188843"/>
                </a:cubicBezTo>
                <a:cubicBezTo>
                  <a:pt x="1222051" y="169917"/>
                  <a:pt x="1184619" y="144815"/>
                  <a:pt x="1143000" y="129208"/>
                </a:cubicBezTo>
                <a:lnTo>
                  <a:pt x="1063487" y="99391"/>
                </a:lnTo>
                <a:cubicBezTo>
                  <a:pt x="1043754" y="92344"/>
                  <a:pt x="1022927" y="88184"/>
                  <a:pt x="1003852" y="79513"/>
                </a:cubicBezTo>
                <a:cubicBezTo>
                  <a:pt x="986265" y="71519"/>
                  <a:pt x="972962" y="54120"/>
                  <a:pt x="954157" y="49695"/>
                </a:cubicBezTo>
                <a:cubicBezTo>
                  <a:pt x="915323" y="40557"/>
                  <a:pt x="874644" y="43069"/>
                  <a:pt x="834887" y="39756"/>
                </a:cubicBezTo>
                <a:cubicBezTo>
                  <a:pt x="770553" y="23672"/>
                  <a:pt x="752177" y="17780"/>
                  <a:pt x="665922" y="9939"/>
                </a:cubicBezTo>
                <a:cubicBezTo>
                  <a:pt x="599851" y="3933"/>
                  <a:pt x="533400" y="3313"/>
                  <a:pt x="467139" y="0"/>
                </a:cubicBezTo>
                <a:cubicBezTo>
                  <a:pt x="430696" y="3313"/>
                  <a:pt x="393776" y="3195"/>
                  <a:pt x="357809" y="9939"/>
                </a:cubicBezTo>
                <a:cubicBezTo>
                  <a:pt x="313815" y="18188"/>
                  <a:pt x="262414" y="61069"/>
                  <a:pt x="228600" y="79513"/>
                </a:cubicBezTo>
                <a:cubicBezTo>
                  <a:pt x="219403" y="84530"/>
                  <a:pt x="208154" y="84767"/>
                  <a:pt x="198783" y="89452"/>
                </a:cubicBezTo>
                <a:cubicBezTo>
                  <a:pt x="188099" y="94794"/>
                  <a:pt x="179945" y="104625"/>
                  <a:pt x="168965" y="109330"/>
                </a:cubicBezTo>
                <a:cubicBezTo>
                  <a:pt x="156410" y="114711"/>
                  <a:pt x="142343" y="115516"/>
                  <a:pt x="129209" y="119269"/>
                </a:cubicBezTo>
                <a:cubicBezTo>
                  <a:pt x="101935" y="127062"/>
                  <a:pt x="75964" y="138579"/>
                  <a:pt x="49696" y="149087"/>
                </a:cubicBezTo>
                <a:cubicBezTo>
                  <a:pt x="43070" y="155713"/>
                  <a:pt x="37852" y="164144"/>
                  <a:pt x="29817" y="168965"/>
                </a:cubicBezTo>
                <a:cubicBezTo>
                  <a:pt x="20833" y="174355"/>
                  <a:pt x="0" y="178904"/>
                  <a:pt x="0" y="178904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PE">
              <a:ln w="57150">
                <a:solidFill>
                  <a:schemeClr val="tx1"/>
                </a:solidFill>
              </a:ln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B75C80C-7C12-4C26-AEBF-38E6CB823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789" y="2764084"/>
            <a:ext cx="3924164" cy="19712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EB1DD3C-ED2E-43A7-AE3C-935E91FE4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779" y="4418107"/>
            <a:ext cx="3724977" cy="23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58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FE2CFF-2245-4B13-9581-5506A76A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9669"/>
            <a:ext cx="12340046" cy="7010399"/>
          </a:xfrm>
          <a:prstGeom prst="rect">
            <a:avLst/>
          </a:prstGeom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5A3B692C-D67A-41C1-A831-42F27B742C77}"/>
              </a:ext>
            </a:extLst>
          </p:cNvPr>
          <p:cNvSpPr/>
          <p:nvPr/>
        </p:nvSpPr>
        <p:spPr>
          <a:xfrm>
            <a:off x="4044244" y="3081338"/>
            <a:ext cx="1441450" cy="347662"/>
          </a:xfrm>
          <a:custGeom>
            <a:avLst/>
            <a:gdLst>
              <a:gd name="connsiteX0" fmla="*/ 1441174 w 1441174"/>
              <a:gd name="connsiteY0" fmla="*/ 347869 h 347869"/>
              <a:gd name="connsiteX1" fmla="*/ 1381539 w 1441174"/>
              <a:gd name="connsiteY1" fmla="*/ 258417 h 347869"/>
              <a:gd name="connsiteX2" fmla="*/ 1262270 w 1441174"/>
              <a:gd name="connsiteY2" fmla="*/ 188843 h 347869"/>
              <a:gd name="connsiteX3" fmla="*/ 1143000 w 1441174"/>
              <a:gd name="connsiteY3" fmla="*/ 129208 h 347869"/>
              <a:gd name="connsiteX4" fmla="*/ 1063487 w 1441174"/>
              <a:gd name="connsiteY4" fmla="*/ 99391 h 347869"/>
              <a:gd name="connsiteX5" fmla="*/ 1003852 w 1441174"/>
              <a:gd name="connsiteY5" fmla="*/ 79513 h 347869"/>
              <a:gd name="connsiteX6" fmla="*/ 954157 w 1441174"/>
              <a:gd name="connsiteY6" fmla="*/ 49695 h 347869"/>
              <a:gd name="connsiteX7" fmla="*/ 834887 w 1441174"/>
              <a:gd name="connsiteY7" fmla="*/ 39756 h 347869"/>
              <a:gd name="connsiteX8" fmla="*/ 665922 w 1441174"/>
              <a:gd name="connsiteY8" fmla="*/ 9939 h 347869"/>
              <a:gd name="connsiteX9" fmla="*/ 467139 w 1441174"/>
              <a:gd name="connsiteY9" fmla="*/ 0 h 347869"/>
              <a:gd name="connsiteX10" fmla="*/ 357809 w 1441174"/>
              <a:gd name="connsiteY10" fmla="*/ 9939 h 347869"/>
              <a:gd name="connsiteX11" fmla="*/ 228600 w 1441174"/>
              <a:gd name="connsiteY11" fmla="*/ 79513 h 347869"/>
              <a:gd name="connsiteX12" fmla="*/ 198783 w 1441174"/>
              <a:gd name="connsiteY12" fmla="*/ 89452 h 347869"/>
              <a:gd name="connsiteX13" fmla="*/ 168965 w 1441174"/>
              <a:gd name="connsiteY13" fmla="*/ 109330 h 347869"/>
              <a:gd name="connsiteX14" fmla="*/ 129209 w 1441174"/>
              <a:gd name="connsiteY14" fmla="*/ 119269 h 347869"/>
              <a:gd name="connsiteX15" fmla="*/ 49696 w 1441174"/>
              <a:gd name="connsiteY15" fmla="*/ 149087 h 347869"/>
              <a:gd name="connsiteX16" fmla="*/ 29817 w 1441174"/>
              <a:gd name="connsiteY16" fmla="*/ 168965 h 347869"/>
              <a:gd name="connsiteX17" fmla="*/ 0 w 1441174"/>
              <a:gd name="connsiteY17" fmla="*/ 178904 h 3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1174" h="347869">
                <a:moveTo>
                  <a:pt x="1441174" y="347869"/>
                </a:moveTo>
                <a:cubicBezTo>
                  <a:pt x="1430127" y="329458"/>
                  <a:pt x="1399543" y="274621"/>
                  <a:pt x="1381539" y="258417"/>
                </a:cubicBezTo>
                <a:cubicBezTo>
                  <a:pt x="1313817" y="197467"/>
                  <a:pt x="1328179" y="219859"/>
                  <a:pt x="1262270" y="188843"/>
                </a:cubicBezTo>
                <a:cubicBezTo>
                  <a:pt x="1222051" y="169917"/>
                  <a:pt x="1184619" y="144815"/>
                  <a:pt x="1143000" y="129208"/>
                </a:cubicBezTo>
                <a:lnTo>
                  <a:pt x="1063487" y="99391"/>
                </a:lnTo>
                <a:cubicBezTo>
                  <a:pt x="1043754" y="92344"/>
                  <a:pt x="1022927" y="88184"/>
                  <a:pt x="1003852" y="79513"/>
                </a:cubicBezTo>
                <a:cubicBezTo>
                  <a:pt x="986265" y="71519"/>
                  <a:pt x="972962" y="54120"/>
                  <a:pt x="954157" y="49695"/>
                </a:cubicBezTo>
                <a:cubicBezTo>
                  <a:pt x="915323" y="40557"/>
                  <a:pt x="874644" y="43069"/>
                  <a:pt x="834887" y="39756"/>
                </a:cubicBezTo>
                <a:cubicBezTo>
                  <a:pt x="770553" y="23672"/>
                  <a:pt x="752177" y="17780"/>
                  <a:pt x="665922" y="9939"/>
                </a:cubicBezTo>
                <a:cubicBezTo>
                  <a:pt x="599851" y="3933"/>
                  <a:pt x="533400" y="3313"/>
                  <a:pt x="467139" y="0"/>
                </a:cubicBezTo>
                <a:cubicBezTo>
                  <a:pt x="430696" y="3313"/>
                  <a:pt x="393776" y="3195"/>
                  <a:pt x="357809" y="9939"/>
                </a:cubicBezTo>
                <a:cubicBezTo>
                  <a:pt x="313815" y="18188"/>
                  <a:pt x="262414" y="61069"/>
                  <a:pt x="228600" y="79513"/>
                </a:cubicBezTo>
                <a:cubicBezTo>
                  <a:pt x="219403" y="84530"/>
                  <a:pt x="208154" y="84767"/>
                  <a:pt x="198783" y="89452"/>
                </a:cubicBezTo>
                <a:cubicBezTo>
                  <a:pt x="188099" y="94794"/>
                  <a:pt x="179945" y="104625"/>
                  <a:pt x="168965" y="109330"/>
                </a:cubicBezTo>
                <a:cubicBezTo>
                  <a:pt x="156410" y="114711"/>
                  <a:pt x="142343" y="115516"/>
                  <a:pt x="129209" y="119269"/>
                </a:cubicBezTo>
                <a:cubicBezTo>
                  <a:pt x="101935" y="127062"/>
                  <a:pt x="75964" y="138579"/>
                  <a:pt x="49696" y="149087"/>
                </a:cubicBezTo>
                <a:cubicBezTo>
                  <a:pt x="43070" y="155713"/>
                  <a:pt x="37852" y="164144"/>
                  <a:pt x="29817" y="168965"/>
                </a:cubicBezTo>
                <a:cubicBezTo>
                  <a:pt x="20833" y="174355"/>
                  <a:pt x="0" y="178904"/>
                  <a:pt x="0" y="178904"/>
                </a:cubicBez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PE">
              <a:ln w="57150">
                <a:solidFill>
                  <a:schemeClr val="tx1"/>
                </a:solidFill>
              </a:ln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4DD0C6-25BD-4518-B26E-5F5EB653E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702"/>
            <a:ext cx="12192000" cy="674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769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879</Words>
  <Application>Microsoft Office PowerPoint</Application>
  <PresentationFormat>Panorámica</PresentationFormat>
  <Paragraphs>222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6" baseType="lpstr">
      <vt:lpstr>ADLaM Display</vt:lpstr>
      <vt:lpstr>Arial</vt:lpstr>
      <vt:lpstr>Arial Black</vt:lpstr>
      <vt:lpstr>Bernard MT Condensed</vt:lpstr>
      <vt:lpstr>Calibri</vt:lpstr>
      <vt:lpstr>Calibri Light</vt:lpstr>
      <vt:lpstr>inherit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31</cp:revision>
  <dcterms:created xsi:type="dcterms:W3CDTF">2025-05-28T09:18:26Z</dcterms:created>
  <dcterms:modified xsi:type="dcterms:W3CDTF">2025-05-28T19:25:18Z</dcterms:modified>
</cp:coreProperties>
</file>