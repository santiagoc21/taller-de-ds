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275" r:id="rId2"/>
    <p:sldId id="1313" r:id="rId3"/>
    <p:sldId id="1315" r:id="rId4"/>
    <p:sldId id="1312" r:id="rId5"/>
    <p:sldId id="1276" r:id="rId6"/>
    <p:sldId id="1306" r:id="rId7"/>
    <p:sldId id="1301" r:id="rId8"/>
    <p:sldId id="1305" r:id="rId9"/>
    <p:sldId id="1307" r:id="rId10"/>
    <p:sldId id="1303" r:id="rId11"/>
    <p:sldId id="1277" r:id="rId12"/>
    <p:sldId id="1291" r:id="rId13"/>
    <p:sldId id="1309" r:id="rId14"/>
    <p:sldId id="1278" r:id="rId15"/>
    <p:sldId id="1280" r:id="rId16"/>
    <p:sldId id="1281" r:id="rId17"/>
    <p:sldId id="1284" r:id="rId18"/>
    <p:sldId id="1282" r:id="rId19"/>
    <p:sldId id="1285" r:id="rId20"/>
    <p:sldId id="1287" r:id="rId21"/>
    <p:sldId id="1288" r:id="rId22"/>
    <p:sldId id="1286" r:id="rId23"/>
    <p:sldId id="1289" r:id="rId24"/>
    <p:sldId id="1290" r:id="rId25"/>
    <p:sldId id="1292" r:id="rId26"/>
    <p:sldId id="1311" r:id="rId27"/>
    <p:sldId id="1298" r:id="rId28"/>
    <p:sldId id="1300" r:id="rId29"/>
    <p:sldId id="1299" r:id="rId3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DF675-0690-4877-85E2-4F87CEB19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E59439-40F7-4D58-B7F4-98DC0E4E9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A3E86C-3619-4228-80D9-4B36B34B8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1305-5761-4036-86BE-79C574A6D801}" type="datetimeFigureOut">
              <a:rPr lang="es-PE" smtClean="0"/>
              <a:t>14/05/2025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7D8C34-612B-4714-9975-4904DED0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978189-75F4-4FBC-9199-A10700B5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D297-8178-4548-8C17-C9D15EC275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65441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1BA65-54E7-495A-B652-9592867E9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1F9391-6D76-4210-97C6-42AAE7A68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9AA3E0-336F-483A-8827-E204F15B8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1305-5761-4036-86BE-79C574A6D801}" type="datetimeFigureOut">
              <a:rPr lang="es-PE" smtClean="0"/>
              <a:t>14/05/2025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FD63E4-8FA2-4251-9E04-0BA953AD8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EFE9A9-3A24-4146-B0CA-F5A8F1AA6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D297-8178-4548-8C17-C9D15EC275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2559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A7E87-0EFF-4D7E-ACFE-0BF1864FE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B786CA-6BF9-49CF-A004-B7358D459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20CA99-0803-4459-9781-8CDD65239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1305-5761-4036-86BE-79C574A6D801}" type="datetimeFigureOut">
              <a:rPr lang="es-PE" smtClean="0"/>
              <a:t>14/05/2025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ED878E-2705-4DBC-B0F0-200825324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C958BC-4728-49B2-B19D-7CCFD0584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D297-8178-4548-8C17-C9D15EC275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03381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68083-FA73-4BDA-BC62-71A4636A4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6C5C84-9BCF-4E7F-B490-2E94DA688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1B184C-1D5A-4716-A237-314FFE8F9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4FBD0A-1D2B-4592-B071-37F432DFE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1305-5761-4036-86BE-79C574A6D801}" type="datetimeFigureOut">
              <a:rPr lang="es-PE" smtClean="0"/>
              <a:t>14/05/2025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883176-7C9E-42D4-B6D4-79B0557AB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1EE0E2-AADE-4145-9A34-9A86E6570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D297-8178-4548-8C17-C9D15EC275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2285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3677E-629B-4860-B603-AC0CDA66D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04DB76-2479-48F5-A19E-54A870861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B9587C-854F-4485-A074-10E69B627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945CEE7-04CA-4B81-BDA8-82FBF72592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00EA277-3051-4E81-B4D8-E284D81BD2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7562FC-2224-4633-BFE0-0BA6A15F7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1305-5761-4036-86BE-79C574A6D801}" type="datetimeFigureOut">
              <a:rPr lang="es-PE" smtClean="0"/>
              <a:t>14/05/2025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110C0A-E05F-47CE-922E-76AE405B0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F856CFD-5C10-4FC9-B549-2F9C978F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D297-8178-4548-8C17-C9D15EC275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75109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8D8CE-BEDB-4D91-8F7A-3B9437FD8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1E6863-0944-4B20-8CAC-EF1FA231C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1305-5761-4036-86BE-79C574A6D801}" type="datetimeFigureOut">
              <a:rPr lang="es-PE" smtClean="0"/>
              <a:t>14/05/2025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5D1B1EA-62C6-4412-B75F-EC1928F67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EC9D2A-6A99-4166-8962-CC1FC5DF8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D297-8178-4548-8C17-C9D15EC275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1071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6361BC-67C4-4225-98EF-62B763AEE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1305-5761-4036-86BE-79C574A6D801}" type="datetimeFigureOut">
              <a:rPr lang="es-PE" smtClean="0"/>
              <a:t>14/05/2025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D06139-E798-4499-9ED9-E5E510588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B2D9C7-776A-4187-8B38-4BF8C3AA9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D297-8178-4548-8C17-C9D15EC275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0666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58241-F986-421E-A526-BF00A3DCB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8E5FBA-5F56-42D2-9DEB-DEA6DCEEF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E56C720-B63A-4FAF-A339-CCDD531F8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0C98F0-ED41-4824-80FB-4C4E19889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1305-5761-4036-86BE-79C574A6D801}" type="datetimeFigureOut">
              <a:rPr lang="es-PE" smtClean="0"/>
              <a:t>14/05/2025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A6D0B9-D58D-476D-AB98-9448F5D32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6D9485-052D-4296-B955-99A9CA0C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D297-8178-4548-8C17-C9D15EC275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24675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E3D5B-F678-46AB-88A2-9FBF3B88F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F852719-529F-4D4B-B1C2-5D5833EAE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4E4B92-EA48-4EEE-AAB0-ED7AA3554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84DBB8-E367-4700-9090-6977B2E7E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1305-5761-4036-86BE-79C574A6D801}" type="datetimeFigureOut">
              <a:rPr lang="es-PE" smtClean="0"/>
              <a:t>14/05/2025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7163E9-B847-4FDF-B8F3-064816E51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3A36A3-4429-4A41-81BE-EAE493B0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D297-8178-4548-8C17-C9D15EC275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6877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F28CB-4AA1-40D5-BA55-9A0F9841E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9A8068-A5B5-45E6-88F5-64C374A1C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88F9E1-D7C0-4B50-8D9B-B6E4AACBA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1305-5761-4036-86BE-79C574A6D801}" type="datetimeFigureOut">
              <a:rPr lang="es-PE" smtClean="0"/>
              <a:t>14/05/2025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561A01-2D21-441F-94FC-A84E8D079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B8CDDD-EF5C-4B5F-BDE6-8DC9A6117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D297-8178-4548-8C17-C9D15EC275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97745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D94D5A-12D5-4F6E-87DF-F69398DB34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FBF072-6298-4A73-87C2-89934E36B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663D18-2AC7-4662-8CD8-D7C4EEBE4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1305-5761-4036-86BE-79C574A6D801}" type="datetimeFigureOut">
              <a:rPr lang="es-PE" smtClean="0"/>
              <a:t>14/05/2025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7C87AD-15A8-42EC-8B1F-E9C10F75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B8F0BD-55D2-4278-891D-DE1B454D8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D297-8178-4548-8C17-C9D15EC275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53625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A6B460-DF5A-47B1-93DC-94F284B44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5125A4-5B0B-4862-A17C-FF2F8E5EE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B90CC0-75CC-4809-BB7C-E9A57902FC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C1305-5761-4036-86BE-79C574A6D801}" type="datetimeFigureOut">
              <a:rPr lang="es-PE" smtClean="0"/>
              <a:t>14/05/2025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EC2A26-209A-4636-B9D6-A8D5BF976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762D1F-33EB-4E87-9063-CD1AB83C7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CD297-8178-4548-8C17-C9D15EC275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76962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1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0115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7D652E8-54CF-4591-BF48-FA71DFB7BF1D}"/>
              </a:ext>
            </a:extLst>
          </p:cNvPr>
          <p:cNvSpPr/>
          <p:nvPr/>
        </p:nvSpPr>
        <p:spPr>
          <a:xfrm>
            <a:off x="-2118359" y="1821200"/>
            <a:ext cx="12035245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14350" indent="-514350">
              <a:buAutoNum type="alphaLcParenR"/>
            </a:pPr>
            <a:endParaRPr lang="es-ES" sz="2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514350" indent="-514350">
              <a:buAutoNum type="alphaLcParenR"/>
            </a:pPr>
            <a:endParaRPr lang="es-ES" sz="2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514350" indent="-514350">
              <a:buAutoNum type="alphaLcParenR"/>
            </a:pPr>
            <a:endParaRPr lang="es-ES" sz="2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3F4FC1F-CF66-4A54-BC52-584E8D8AC1A1}"/>
              </a:ext>
            </a:extLst>
          </p:cNvPr>
          <p:cNvSpPr txBox="1"/>
          <p:nvPr/>
        </p:nvSpPr>
        <p:spPr>
          <a:xfrm>
            <a:off x="912181" y="109967"/>
            <a:ext cx="7186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PE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7AE624E-F525-4033-9279-CD261D373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" y="133350"/>
            <a:ext cx="1183005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6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2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0115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7D652E8-54CF-4591-BF48-FA71DFB7BF1D}"/>
              </a:ext>
            </a:extLst>
          </p:cNvPr>
          <p:cNvSpPr/>
          <p:nvPr/>
        </p:nvSpPr>
        <p:spPr>
          <a:xfrm>
            <a:off x="-2118359" y="1821200"/>
            <a:ext cx="12035245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14350" indent="-514350">
              <a:buAutoNum type="alphaLcParenR"/>
            </a:pPr>
            <a:endParaRPr lang="es-ES" sz="2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514350" indent="-514350">
              <a:buAutoNum type="alphaLcParenR"/>
            </a:pPr>
            <a:endParaRPr lang="es-ES" sz="2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514350" indent="-514350">
              <a:buAutoNum type="alphaLcParenR"/>
            </a:pPr>
            <a:endParaRPr lang="es-ES" sz="2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6C6E119-5113-43E3-BD38-7C92CA8E8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" y="57150"/>
            <a:ext cx="11944350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431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3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0115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7D652E8-54CF-4591-BF48-FA71DFB7BF1D}"/>
              </a:ext>
            </a:extLst>
          </p:cNvPr>
          <p:cNvSpPr/>
          <p:nvPr/>
        </p:nvSpPr>
        <p:spPr>
          <a:xfrm>
            <a:off x="-2118359" y="1821200"/>
            <a:ext cx="12035245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14350" indent="-514350">
              <a:buAutoNum type="alphaLcParenR"/>
            </a:pPr>
            <a:endParaRPr lang="es-ES" sz="2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514350" indent="-514350">
              <a:buAutoNum type="alphaLcParenR"/>
            </a:pPr>
            <a:endParaRPr lang="es-ES" sz="2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514350" indent="-514350">
              <a:buAutoNum type="alphaLcParenR"/>
            </a:pPr>
            <a:endParaRPr lang="es-ES" sz="2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1BA8B7C-96BF-41C2-AAB4-EC04F831D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104775"/>
            <a:ext cx="11791950" cy="6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0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4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0115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7D652E8-54CF-4591-BF48-FA71DFB7BF1D}"/>
              </a:ext>
            </a:extLst>
          </p:cNvPr>
          <p:cNvSpPr/>
          <p:nvPr/>
        </p:nvSpPr>
        <p:spPr>
          <a:xfrm>
            <a:off x="156754" y="0"/>
            <a:ext cx="12035245" cy="80945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2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Problema.- </a:t>
            </a:r>
          </a:p>
          <a:p>
            <a:r>
              <a:rPr lang="es-ES" sz="2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una  empresa </a:t>
            </a:r>
            <a:r>
              <a:rPr lang="es-ES" sz="2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disponede</a:t>
            </a:r>
            <a:r>
              <a:rPr lang="es-ES" sz="2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300 productos de un solo tipo en su Almacena, diseñar un sistema </a:t>
            </a:r>
            <a:r>
              <a:rPr lang="es-ES" sz="2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informatico</a:t>
            </a:r>
            <a:r>
              <a:rPr lang="es-ES" sz="2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de gestión logística para:</a:t>
            </a:r>
          </a:p>
          <a:p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1.-  la gerencia se plantea un objetivo para el año 2040 de  disponer de 600 productos</a:t>
            </a:r>
          </a:p>
          <a:p>
            <a:r>
              <a:rPr lang="es-ES" sz="2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2.-con tasa de .4 recibe nuevos productos</a:t>
            </a:r>
          </a:p>
          <a:p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3.- con tasa .02 vende productos</a:t>
            </a:r>
          </a:p>
          <a:p>
            <a:r>
              <a:rPr lang="es-ES" sz="2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4.- conocer el inventario después de recibir productos</a:t>
            </a:r>
          </a:p>
          <a:p>
            <a:r>
              <a:rPr lang="es-ES" sz="2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 conocer inventario después de vender productos</a:t>
            </a:r>
          </a:p>
          <a:p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6- conocer el incremento de productos anualmente </a:t>
            </a:r>
          </a:p>
          <a:p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7.- Error/faltante en un tiempo t</a:t>
            </a:r>
          </a:p>
          <a:p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Usando </a:t>
            </a:r>
            <a:r>
              <a:rPr lang="es-ES" sz="2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Vensim</a:t>
            </a: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, debe  diseñar:</a:t>
            </a:r>
          </a:p>
          <a:p>
            <a:pPr marL="514350" indent="-514350">
              <a:buAutoNum type="alphaLcParenR"/>
            </a:pP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Diagrama causal</a:t>
            </a:r>
          </a:p>
          <a:p>
            <a:pPr marL="514350" indent="-514350">
              <a:buAutoNum type="alphaLcParenR"/>
            </a:pP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diagrama de </a:t>
            </a:r>
            <a:r>
              <a:rPr lang="es-ES" sz="2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foreester</a:t>
            </a:r>
            <a:endParaRPr lang="es-ES" sz="2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514350" indent="-514350">
              <a:buAutoNum type="alphaLcParenR"/>
            </a:pP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c) sus tablas, gráficos</a:t>
            </a:r>
          </a:p>
          <a:p>
            <a:r>
              <a:rPr lang="es-ES" sz="2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Vensim</a:t>
            </a: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usa la técnica de Euler para proceso de simulación, muestra  funcionamiento del algoritmo , usando Python para la ecuación diferencial </a:t>
            </a:r>
            <a:r>
              <a:rPr lang="es-ES" sz="2400" b="1" spc="50" dirty="0">
                <a:ln w="0"/>
                <a:solidFill>
                  <a:srgbClr val="FFFF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y’=x+2y</a:t>
            </a: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, h=0.1, n=40 pasos</a:t>
            </a:r>
          </a:p>
          <a:p>
            <a:endParaRPr lang="es-ES" sz="2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s-ES" sz="2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514350" indent="-514350">
              <a:buAutoNum type="alphaLcParenR"/>
            </a:pPr>
            <a:endParaRPr lang="es-ES" sz="2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514350" indent="-514350">
              <a:buAutoNum type="alphaLcParenR"/>
            </a:pPr>
            <a:endParaRPr lang="es-ES" sz="2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514350" indent="-514350">
              <a:buAutoNum type="alphaLcParenR"/>
            </a:pPr>
            <a:endParaRPr lang="es-ES" sz="2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027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5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5462"/>
            <a:ext cx="12192000" cy="700115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7306FE6-8DE5-40D0-BA0F-68DE68487275}"/>
              </a:ext>
            </a:extLst>
          </p:cNvPr>
          <p:cNvSpPr/>
          <p:nvPr/>
        </p:nvSpPr>
        <p:spPr>
          <a:xfrm>
            <a:off x="782003" y="-157614"/>
            <a:ext cx="9845336" cy="61247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7200" b="1" cap="none" spc="0" dirty="0">
                <a:ln/>
                <a:solidFill>
                  <a:schemeClr val="accent4"/>
                </a:solidFill>
                <a:effectLst/>
              </a:rPr>
              <a:t>Problema </a:t>
            </a:r>
            <a:r>
              <a:rPr lang="es-ES" sz="7200" b="1" cap="none" spc="0" dirty="0" err="1">
                <a:ln/>
                <a:solidFill>
                  <a:schemeClr val="accent4"/>
                </a:solidFill>
                <a:effectLst/>
              </a:rPr>
              <a:t>dinamico</a:t>
            </a:r>
            <a:endParaRPr lang="es-ES" sz="7200" b="1" cap="none" spc="0" dirty="0">
              <a:ln/>
              <a:solidFill>
                <a:schemeClr val="accent4"/>
              </a:solidFill>
              <a:effectLst/>
            </a:endParaRPr>
          </a:p>
          <a:p>
            <a:r>
              <a:rPr lang="es-ES" sz="3200" b="1" dirty="0">
                <a:ln/>
                <a:solidFill>
                  <a:schemeClr val="bg1"/>
                </a:solidFill>
              </a:rPr>
              <a:t>Consiste en :</a:t>
            </a:r>
          </a:p>
          <a:p>
            <a:r>
              <a:rPr lang="es-ES" sz="3200" b="1" cap="none" spc="0" dirty="0">
                <a:ln/>
                <a:solidFill>
                  <a:schemeClr val="bg1"/>
                </a:solidFill>
                <a:effectLst/>
              </a:rPr>
              <a:t>1.- Usar </a:t>
            </a:r>
            <a:r>
              <a:rPr lang="es-ES" sz="3200" b="1" cap="none" spc="0" dirty="0" err="1">
                <a:ln/>
                <a:solidFill>
                  <a:schemeClr val="bg1"/>
                </a:solidFill>
                <a:effectLst/>
              </a:rPr>
              <a:t>Vensim</a:t>
            </a:r>
            <a:r>
              <a:rPr lang="es-ES" sz="3200" b="1" cap="none" spc="0" dirty="0">
                <a:ln/>
                <a:solidFill>
                  <a:schemeClr val="bg1"/>
                </a:solidFill>
                <a:effectLst/>
              </a:rPr>
              <a:t>, </a:t>
            </a:r>
            <a:r>
              <a:rPr lang="es-ES" sz="3200" b="1" cap="none" spc="0" dirty="0" err="1">
                <a:ln/>
                <a:solidFill>
                  <a:schemeClr val="bg1"/>
                </a:solidFill>
                <a:effectLst/>
              </a:rPr>
              <a:t>stella</a:t>
            </a:r>
            <a:r>
              <a:rPr lang="es-ES" sz="3200" b="1" cap="none" spc="0" dirty="0">
                <a:ln/>
                <a:solidFill>
                  <a:schemeClr val="bg1"/>
                </a:solidFill>
                <a:effectLst/>
              </a:rPr>
              <a:t>(diagrama causal, </a:t>
            </a:r>
            <a:r>
              <a:rPr lang="es-ES" sz="3200" b="1" cap="none" spc="0" dirty="0" err="1">
                <a:ln/>
                <a:solidFill>
                  <a:schemeClr val="bg1"/>
                </a:solidFill>
                <a:effectLst/>
              </a:rPr>
              <a:t>forrester</a:t>
            </a:r>
            <a:r>
              <a:rPr lang="es-ES" sz="3200" b="1" cap="none" spc="0" dirty="0">
                <a:ln/>
                <a:solidFill>
                  <a:schemeClr val="bg1"/>
                </a:solidFill>
                <a:effectLst/>
              </a:rPr>
              <a:t>)</a:t>
            </a:r>
          </a:p>
          <a:p>
            <a:r>
              <a:rPr lang="es-ES" sz="3200" b="1" dirty="0">
                <a:ln/>
                <a:solidFill>
                  <a:schemeClr val="bg1"/>
                </a:solidFill>
              </a:rPr>
              <a:t>2.- </a:t>
            </a:r>
            <a:r>
              <a:rPr lang="es-ES" sz="3200" b="1" dirty="0" err="1">
                <a:ln/>
                <a:solidFill>
                  <a:schemeClr val="bg1"/>
                </a:solidFill>
              </a:rPr>
              <a:t>programacion</a:t>
            </a:r>
            <a:r>
              <a:rPr lang="es-ES" sz="3200" b="1" dirty="0">
                <a:ln/>
                <a:solidFill>
                  <a:schemeClr val="bg1"/>
                </a:solidFill>
              </a:rPr>
              <a:t> Python </a:t>
            </a:r>
            <a:r>
              <a:rPr lang="es-ES" sz="3200" b="1" dirty="0" err="1">
                <a:ln/>
                <a:solidFill>
                  <a:schemeClr val="bg1"/>
                </a:solidFill>
              </a:rPr>
              <a:t>aplicdo</a:t>
            </a:r>
            <a:r>
              <a:rPr lang="es-ES" sz="3200" b="1" dirty="0">
                <a:ln/>
                <a:solidFill>
                  <a:schemeClr val="bg1"/>
                </a:solidFill>
              </a:rPr>
              <a:t> a la técnica de Euler</a:t>
            </a:r>
          </a:p>
          <a:p>
            <a:r>
              <a:rPr lang="es-ES" sz="3200" b="1" cap="none" spc="0" dirty="0">
                <a:ln/>
                <a:solidFill>
                  <a:schemeClr val="bg1"/>
                </a:solidFill>
                <a:effectLst/>
              </a:rPr>
              <a:t>3.- librería  </a:t>
            </a:r>
            <a:r>
              <a:rPr lang="es-ES" sz="3200" b="1" cap="none" spc="0" dirty="0" err="1">
                <a:ln/>
                <a:solidFill>
                  <a:schemeClr val="bg1"/>
                </a:solidFill>
                <a:effectLst/>
              </a:rPr>
              <a:t>PySd</a:t>
            </a:r>
            <a:endParaRPr lang="es-ES" sz="3200" b="1" cap="none" spc="0" dirty="0">
              <a:ln/>
              <a:solidFill>
                <a:schemeClr val="bg1"/>
              </a:solidFill>
              <a:effectLst/>
            </a:endParaRPr>
          </a:p>
          <a:p>
            <a:r>
              <a:rPr lang="es-ES" sz="3200" b="1" dirty="0">
                <a:ln/>
                <a:solidFill>
                  <a:schemeClr val="bg1"/>
                </a:solidFill>
              </a:rPr>
              <a:t>4.- integración </a:t>
            </a:r>
            <a:r>
              <a:rPr lang="es-ES" sz="3200" b="1" dirty="0" err="1">
                <a:ln/>
                <a:solidFill>
                  <a:schemeClr val="bg1"/>
                </a:solidFill>
              </a:rPr>
              <a:t>BD+python+Librerias</a:t>
            </a:r>
            <a:endParaRPr lang="es-ES" sz="3200" b="1" dirty="0">
              <a:ln/>
              <a:solidFill>
                <a:schemeClr val="bg1"/>
              </a:solidFill>
            </a:endParaRPr>
          </a:p>
          <a:p>
            <a:endParaRPr lang="es-ES" sz="3200" b="1" dirty="0">
              <a:ln/>
              <a:solidFill>
                <a:schemeClr val="bg1"/>
              </a:solidFill>
            </a:endParaRPr>
          </a:p>
          <a:p>
            <a:r>
              <a:rPr lang="es-ES" sz="3200" b="1" dirty="0">
                <a:ln/>
                <a:solidFill>
                  <a:schemeClr val="bg1"/>
                </a:solidFill>
              </a:rPr>
              <a:t>Ob.- se </a:t>
            </a:r>
            <a:r>
              <a:rPr lang="es-ES" sz="3200" b="1" dirty="0" err="1">
                <a:ln/>
                <a:solidFill>
                  <a:schemeClr val="bg1"/>
                </a:solidFill>
              </a:rPr>
              <a:t>implemnta</a:t>
            </a:r>
            <a:r>
              <a:rPr lang="es-ES" sz="3200" b="1" dirty="0">
                <a:ln/>
                <a:solidFill>
                  <a:schemeClr val="bg1"/>
                </a:solidFill>
              </a:rPr>
              <a:t> en:  </a:t>
            </a:r>
          </a:p>
          <a:p>
            <a:r>
              <a:rPr lang="es-ES" sz="3200" b="1" dirty="0">
                <a:ln/>
                <a:solidFill>
                  <a:schemeClr val="bg1"/>
                </a:solidFill>
              </a:rPr>
              <a:t>1.- </a:t>
            </a:r>
            <a:r>
              <a:rPr lang="es-ES" sz="3200" b="1" dirty="0" err="1">
                <a:ln/>
                <a:solidFill>
                  <a:schemeClr val="bg1"/>
                </a:solidFill>
              </a:rPr>
              <a:t>Plataform</a:t>
            </a:r>
            <a:r>
              <a:rPr lang="es-ES" sz="3200" b="1" dirty="0">
                <a:ln/>
                <a:solidFill>
                  <a:schemeClr val="bg1"/>
                </a:solidFill>
              </a:rPr>
              <a:t> </a:t>
            </a:r>
            <a:r>
              <a:rPr lang="es-ES" sz="3200" b="1" dirty="0" err="1">
                <a:ln/>
                <a:solidFill>
                  <a:schemeClr val="bg1"/>
                </a:solidFill>
              </a:rPr>
              <a:t>awindows</a:t>
            </a:r>
            <a:endParaRPr lang="es-ES" sz="3200" b="1" dirty="0">
              <a:ln/>
              <a:solidFill>
                <a:schemeClr val="bg1"/>
              </a:solidFill>
            </a:endParaRPr>
          </a:p>
          <a:p>
            <a:r>
              <a:rPr lang="es-ES" sz="3200" b="1" dirty="0">
                <a:ln/>
                <a:solidFill>
                  <a:schemeClr val="bg1"/>
                </a:solidFill>
              </a:rPr>
              <a:t>2.- Plataforma androide</a:t>
            </a:r>
          </a:p>
          <a:p>
            <a:r>
              <a:rPr lang="es-ES" sz="3200" b="1" dirty="0">
                <a:ln/>
                <a:solidFill>
                  <a:schemeClr val="bg1"/>
                </a:solidFill>
              </a:rPr>
              <a:t>3.- </a:t>
            </a:r>
            <a:r>
              <a:rPr lang="es-ES" sz="3200" b="1" dirty="0" err="1">
                <a:ln/>
                <a:solidFill>
                  <a:schemeClr val="bg1"/>
                </a:solidFill>
              </a:rPr>
              <a:t>Plataform</a:t>
            </a:r>
            <a:r>
              <a:rPr lang="es-ES" sz="3200" b="1" dirty="0">
                <a:ln/>
                <a:solidFill>
                  <a:schemeClr val="bg1"/>
                </a:solidFill>
              </a:rPr>
              <a:t> web : </a:t>
            </a:r>
            <a:r>
              <a:rPr lang="es-ES" sz="3200" b="1" dirty="0" err="1">
                <a:ln/>
                <a:solidFill>
                  <a:schemeClr val="bg1"/>
                </a:solidFill>
              </a:rPr>
              <a:t>xampp</a:t>
            </a:r>
            <a:r>
              <a:rPr lang="es-ES" sz="3200" b="1" dirty="0">
                <a:ln/>
                <a:solidFill>
                  <a:schemeClr val="bg1"/>
                </a:solidFill>
              </a:rPr>
              <a:t>, apache, </a:t>
            </a:r>
            <a:r>
              <a:rPr lang="es-ES" sz="3200" b="1" dirty="0" err="1">
                <a:ln/>
                <a:solidFill>
                  <a:schemeClr val="bg1"/>
                </a:solidFill>
              </a:rPr>
              <a:t>mysql</a:t>
            </a:r>
            <a:endParaRPr lang="es-ES" sz="3200" b="1" dirty="0">
              <a:ln/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127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6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5462"/>
            <a:ext cx="12192000" cy="700115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7306FE6-8DE5-40D0-BA0F-68DE68487275}"/>
              </a:ext>
            </a:extLst>
          </p:cNvPr>
          <p:cNvSpPr/>
          <p:nvPr/>
        </p:nvSpPr>
        <p:spPr>
          <a:xfrm>
            <a:off x="2067514" y="1769840"/>
            <a:ext cx="7029040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7200" b="1" cap="none" spc="0" dirty="0">
                <a:ln/>
                <a:solidFill>
                  <a:schemeClr val="accent4"/>
                </a:solidFill>
                <a:effectLst/>
              </a:rPr>
              <a:t>Diagnostico de un</a:t>
            </a:r>
          </a:p>
          <a:p>
            <a:pPr algn="ctr"/>
            <a:r>
              <a:rPr lang="es-ES" sz="7200" b="1" cap="none" spc="0" dirty="0">
                <a:ln/>
                <a:solidFill>
                  <a:schemeClr val="accent4"/>
                </a:solidFill>
                <a:effectLst/>
              </a:rPr>
              <a:t> Diagrama causal</a:t>
            </a:r>
          </a:p>
        </p:txBody>
      </p:sp>
    </p:spTree>
    <p:extLst>
      <p:ext uri="{BB962C8B-B14F-4D97-AF65-F5344CB8AC3E}">
        <p14:creationId xmlns:p14="http://schemas.microsoft.com/office/powerpoint/2010/main" val="55610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7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3154"/>
            <a:ext cx="12192000" cy="700115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38535772-2D6A-4D0E-947E-90278F17EDB2}"/>
              </a:ext>
            </a:extLst>
          </p:cNvPr>
          <p:cNvSpPr txBox="1"/>
          <p:nvPr/>
        </p:nvSpPr>
        <p:spPr>
          <a:xfrm>
            <a:off x="289060" y="248467"/>
            <a:ext cx="1168690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6000" b="0" i="0" dirty="0">
                <a:solidFill>
                  <a:srgbClr val="FFFF00"/>
                </a:solidFill>
                <a:effectLst/>
                <a:latin typeface="Google Sans"/>
              </a:rPr>
              <a:t>Partes de un Diagrama </a:t>
            </a:r>
            <a:r>
              <a:rPr lang="es-ES" sz="6000" b="0" i="0" dirty="0" err="1">
                <a:solidFill>
                  <a:srgbClr val="FFFF00"/>
                </a:solidFill>
                <a:effectLst/>
                <a:latin typeface="Google Sans"/>
              </a:rPr>
              <a:t>Causal:DC</a:t>
            </a:r>
            <a:endParaRPr lang="es-ES" sz="6000" b="0" i="0" dirty="0">
              <a:solidFill>
                <a:srgbClr val="FFFF00"/>
              </a:solidFill>
              <a:effectLst/>
              <a:latin typeface="Google Sans"/>
            </a:endParaRPr>
          </a:p>
          <a:p>
            <a:pPr algn="just"/>
            <a:endParaRPr lang="es-ES" sz="2400" b="0" i="0" dirty="0">
              <a:solidFill>
                <a:schemeClr val="bg1"/>
              </a:solidFill>
              <a:effectLst/>
              <a:latin typeface="Google Sans"/>
            </a:endParaRPr>
          </a:p>
          <a:p>
            <a:pPr algn="just"/>
            <a:r>
              <a:rPr lang="es-ES" sz="2400" b="0" i="0" dirty="0">
                <a:solidFill>
                  <a:schemeClr val="bg1"/>
                </a:solidFill>
                <a:effectLst/>
                <a:latin typeface="Google Sans"/>
              </a:rPr>
              <a:t>1.-Nodos: representan las variables RELEVANTES DENTRO DEL SISTEMA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Google Sans"/>
              </a:rPr>
              <a:t>sistema</a:t>
            </a:r>
            <a:endParaRPr lang="es-ES" sz="2400" b="0" i="0" dirty="0">
              <a:solidFill>
                <a:schemeClr val="bg1"/>
              </a:solidFill>
              <a:effectLst/>
              <a:latin typeface="Google Sans"/>
            </a:endParaRPr>
          </a:p>
          <a:p>
            <a:pPr algn="just"/>
            <a:r>
              <a:rPr lang="es-ES" sz="2400" dirty="0">
                <a:solidFill>
                  <a:schemeClr val="bg1"/>
                </a:solidFill>
                <a:latin typeface="Google Sans"/>
              </a:rPr>
              <a:t>2.-Flechas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Google Sans"/>
              </a:rPr>
              <a:t>(aristas dirigidas): indican las relaciones causales entre ellas. </a:t>
            </a:r>
          </a:p>
          <a:p>
            <a:pPr algn="just"/>
            <a:r>
              <a:rPr lang="es-ES" sz="2400" dirty="0">
                <a:solidFill>
                  <a:schemeClr val="bg1"/>
                </a:solidFill>
                <a:latin typeface="Google Sans"/>
              </a:rPr>
              <a:t>3.- variables de consultas.- no son relevantes al funcionamiento del sistema</a:t>
            </a:r>
          </a:p>
          <a:p>
            <a:pPr algn="just"/>
            <a:r>
              <a:rPr lang="es-ES" sz="2400" dirty="0">
                <a:solidFill>
                  <a:schemeClr val="bg1"/>
                </a:solidFill>
                <a:latin typeface="Google Sans"/>
              </a:rPr>
              <a:t>Variables</a:t>
            </a:r>
          </a:p>
          <a:p>
            <a:pPr algn="just"/>
            <a:endParaRPr lang="es-ES" sz="2400" dirty="0">
              <a:solidFill>
                <a:schemeClr val="bg1"/>
              </a:solidFill>
              <a:latin typeface="Google Sans"/>
            </a:endParaRPr>
          </a:p>
          <a:p>
            <a:pPr algn="just"/>
            <a:r>
              <a:rPr lang="es-ES" sz="2400" dirty="0">
                <a:solidFill>
                  <a:schemeClr val="bg1"/>
                </a:solidFill>
                <a:latin typeface="Google Sans"/>
              </a:rPr>
              <a:t>Tipos:</a:t>
            </a:r>
          </a:p>
          <a:p>
            <a:pPr algn="just"/>
            <a:r>
              <a:rPr lang="es-ES" sz="2400" dirty="0">
                <a:solidFill>
                  <a:schemeClr val="bg1"/>
                </a:solidFill>
                <a:latin typeface="Google Sans"/>
              </a:rPr>
              <a:t>1.-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Google Sans"/>
              </a:rPr>
              <a:t> nivel.-cuantifican datos</a:t>
            </a:r>
          </a:p>
          <a:p>
            <a:pPr algn="just"/>
            <a:r>
              <a:rPr lang="es-ES" sz="2400" b="0" i="0" dirty="0">
                <a:solidFill>
                  <a:schemeClr val="bg1"/>
                </a:solidFill>
                <a:effectLst/>
                <a:latin typeface="Google Sans"/>
              </a:rPr>
              <a:t>2.-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Google Sans"/>
              </a:rPr>
              <a:t>flujo:</a:t>
            </a:r>
            <a:r>
              <a:rPr lang="es-ES" sz="2400" dirty="0" err="1">
                <a:solidFill>
                  <a:schemeClr val="bg1"/>
                </a:solidFill>
                <a:latin typeface="Google Sans"/>
              </a:rPr>
              <a:t>Permite</a:t>
            </a:r>
            <a:r>
              <a:rPr lang="es-ES" sz="2400" dirty="0">
                <a:solidFill>
                  <a:schemeClr val="bg1"/>
                </a:solidFill>
                <a:latin typeface="Google Sans"/>
              </a:rPr>
              <a:t> cambios en el sistema</a:t>
            </a:r>
          </a:p>
          <a:p>
            <a:pPr algn="just"/>
            <a:r>
              <a:rPr lang="es-ES" sz="2400" b="0" i="0" dirty="0">
                <a:solidFill>
                  <a:schemeClr val="bg1"/>
                </a:solidFill>
                <a:effectLst/>
                <a:latin typeface="Google Sans"/>
              </a:rPr>
              <a:t>3.- auxiliares: ayudan a calcular valores en otras variables</a:t>
            </a:r>
            <a:endParaRPr lang="es-PE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051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8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3154"/>
            <a:ext cx="12192000" cy="700115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AFE2B10-C8EB-4B22-8B67-4B17A3FDAD6E}"/>
              </a:ext>
            </a:extLst>
          </p:cNvPr>
          <p:cNvSpPr txBox="1"/>
          <p:nvPr/>
        </p:nvSpPr>
        <p:spPr>
          <a:xfrm>
            <a:off x="313508" y="244276"/>
            <a:ext cx="11564983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800" b="0" i="0" dirty="0">
                <a:solidFill>
                  <a:srgbClr val="FFFF00"/>
                </a:solidFill>
                <a:effectLst/>
                <a:latin typeface="Google Sans"/>
              </a:rPr>
              <a:t>Solución al problema:</a:t>
            </a:r>
          </a:p>
          <a:p>
            <a:r>
              <a:rPr lang="es-ES" sz="3600" b="0" i="0" dirty="0">
                <a:solidFill>
                  <a:srgbClr val="FFFF00"/>
                </a:solidFill>
                <a:effectLst/>
                <a:latin typeface="Google Sans"/>
              </a:rPr>
              <a:t>Parte </a:t>
            </a:r>
            <a:r>
              <a:rPr lang="es-ES" sz="3600" b="0" i="0" dirty="0" err="1">
                <a:solidFill>
                  <a:srgbClr val="FFFF00"/>
                </a:solidFill>
                <a:effectLst/>
                <a:latin typeface="Google Sans"/>
              </a:rPr>
              <a:t>logica</a:t>
            </a:r>
            <a:endParaRPr lang="es-ES" sz="3600" b="0" i="0" dirty="0">
              <a:solidFill>
                <a:srgbClr val="FFFF00"/>
              </a:solidFill>
              <a:effectLst/>
              <a:latin typeface="Google Sans"/>
            </a:endParaRPr>
          </a:p>
          <a:p>
            <a:r>
              <a:rPr lang="es-ES" sz="3600" dirty="0">
                <a:solidFill>
                  <a:schemeClr val="bg1"/>
                </a:solidFill>
                <a:latin typeface="Google Sans"/>
              </a:rPr>
              <a:t>Consiste es diseñar el DC que cumpla con:</a:t>
            </a:r>
          </a:p>
          <a:p>
            <a:r>
              <a:rPr lang="es-ES" sz="3600" b="0" i="0" dirty="0">
                <a:solidFill>
                  <a:schemeClr val="bg1"/>
                </a:solidFill>
                <a:effectLst/>
                <a:latin typeface="Google Sans"/>
              </a:rPr>
              <a:t>1.- modelo lógico del sistema</a:t>
            </a:r>
          </a:p>
          <a:p>
            <a:r>
              <a:rPr lang="es-ES" sz="3600" dirty="0">
                <a:solidFill>
                  <a:schemeClr val="bg1"/>
                </a:solidFill>
                <a:latin typeface="Google Sans"/>
              </a:rPr>
              <a:t>2.- variables de usuario</a:t>
            </a:r>
          </a:p>
          <a:p>
            <a:r>
              <a:rPr lang="es-ES" sz="3600" dirty="0">
                <a:solidFill>
                  <a:srgbClr val="FFFF00"/>
                </a:solidFill>
                <a:latin typeface="Google Sans"/>
              </a:rPr>
              <a:t>Parte física:</a:t>
            </a:r>
          </a:p>
          <a:p>
            <a:r>
              <a:rPr lang="es-ES" sz="3600" dirty="0">
                <a:solidFill>
                  <a:schemeClr val="bg1"/>
                </a:solidFill>
                <a:latin typeface="Google Sans"/>
              </a:rPr>
              <a:t>Diagrama de </a:t>
            </a:r>
            <a:r>
              <a:rPr lang="es-ES" sz="3600" dirty="0" err="1">
                <a:solidFill>
                  <a:schemeClr val="bg1"/>
                </a:solidFill>
                <a:latin typeface="Google Sans"/>
              </a:rPr>
              <a:t>forrester</a:t>
            </a:r>
            <a:endParaRPr lang="es-ES" sz="3600" dirty="0">
              <a:solidFill>
                <a:schemeClr val="bg1"/>
              </a:solidFill>
              <a:latin typeface="Google Sans"/>
            </a:endParaRPr>
          </a:p>
          <a:p>
            <a:r>
              <a:rPr lang="es-ES" sz="3600" dirty="0">
                <a:solidFill>
                  <a:schemeClr val="bg1"/>
                </a:solidFill>
                <a:latin typeface="Google Sans"/>
              </a:rPr>
              <a:t>Tablas, </a:t>
            </a:r>
            <a:r>
              <a:rPr lang="es-ES" sz="3600" dirty="0" err="1">
                <a:solidFill>
                  <a:schemeClr val="bg1"/>
                </a:solidFill>
                <a:latin typeface="Google Sans"/>
              </a:rPr>
              <a:t>graficos</a:t>
            </a:r>
            <a:endParaRPr lang="es-ES" sz="3600" dirty="0">
              <a:solidFill>
                <a:schemeClr val="bg1"/>
              </a:solidFill>
              <a:latin typeface="Google Sans"/>
            </a:endParaRPr>
          </a:p>
          <a:p>
            <a:endParaRPr lang="es-ES" sz="4800" b="0" i="0" dirty="0">
              <a:solidFill>
                <a:srgbClr val="FFFF00"/>
              </a:solidFill>
              <a:effectLst/>
              <a:latin typeface="Google Sans"/>
            </a:endParaRP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434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9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3154"/>
            <a:ext cx="12192000" cy="700115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AFE2B10-C8EB-4B22-8B67-4B17A3FDAD6E}"/>
              </a:ext>
            </a:extLst>
          </p:cNvPr>
          <p:cNvSpPr txBox="1"/>
          <p:nvPr/>
        </p:nvSpPr>
        <p:spPr>
          <a:xfrm>
            <a:off x="2029096" y="2548470"/>
            <a:ext cx="1156498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800" b="0" i="0" dirty="0">
                <a:solidFill>
                  <a:srgbClr val="FFFF00"/>
                </a:solidFill>
                <a:effectLst/>
                <a:latin typeface="Google Sans"/>
              </a:rPr>
              <a:t>Diagrama Causal</a:t>
            </a:r>
          </a:p>
          <a:p>
            <a:endParaRPr lang="es-ES" sz="4800" dirty="0">
              <a:solidFill>
                <a:srgbClr val="FFFF00"/>
              </a:solidFill>
              <a:latin typeface="Google Sans"/>
            </a:endParaRPr>
          </a:p>
          <a:p>
            <a:r>
              <a:rPr lang="es-ES" sz="4800" b="0" i="0" dirty="0" err="1">
                <a:solidFill>
                  <a:srgbClr val="FFFF00"/>
                </a:solidFill>
                <a:effectLst/>
                <a:latin typeface="Google Sans"/>
              </a:rPr>
              <a:t>Tecnica</a:t>
            </a:r>
            <a:r>
              <a:rPr lang="es-ES" sz="4800" b="0" i="0" dirty="0">
                <a:solidFill>
                  <a:srgbClr val="FFFF00"/>
                </a:solidFill>
                <a:effectLst/>
                <a:latin typeface="Google Sans"/>
              </a:rPr>
              <a:t> I: Forma Dinámica </a:t>
            </a:r>
          </a:p>
          <a:p>
            <a:endParaRPr lang="es-ES" sz="4800" b="0" i="0" dirty="0">
              <a:solidFill>
                <a:srgbClr val="FFFF00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645993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10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3154"/>
            <a:ext cx="12192000" cy="700115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29491CD-FEA2-4A82-A77B-ABE9CB8F6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0"/>
            <a:ext cx="11791406" cy="672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258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11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5462"/>
            <a:ext cx="12192000" cy="700115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11B7CA6-1328-40DE-BEC1-2DFD62C5AD86}"/>
              </a:ext>
            </a:extLst>
          </p:cNvPr>
          <p:cNvSpPr txBox="1"/>
          <p:nvPr/>
        </p:nvSpPr>
        <p:spPr>
          <a:xfrm>
            <a:off x="2029096" y="2548470"/>
            <a:ext cx="115649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800" b="0" i="0" dirty="0">
                <a:solidFill>
                  <a:srgbClr val="FFFF00"/>
                </a:solidFill>
                <a:effectLst/>
                <a:latin typeface="Google Sans"/>
              </a:rPr>
              <a:t>Diagrama de Forrester </a:t>
            </a:r>
          </a:p>
        </p:txBody>
      </p:sp>
    </p:spTree>
    <p:extLst>
      <p:ext uri="{BB962C8B-B14F-4D97-AF65-F5344CB8AC3E}">
        <p14:creationId xmlns:p14="http://schemas.microsoft.com/office/powerpoint/2010/main" val="1261656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12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2074" y="-1056728"/>
            <a:ext cx="13744074" cy="789242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E0B8391-FEE6-46B9-AAC6-6F20E5348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71" y="-45655"/>
            <a:ext cx="10395857" cy="685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774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13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2074" y="-1056728"/>
            <a:ext cx="13744074" cy="789242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3850652-DEAE-4BC0-AAB5-6D01534486D1}"/>
              </a:ext>
            </a:extLst>
          </p:cNvPr>
          <p:cNvSpPr txBox="1"/>
          <p:nvPr/>
        </p:nvSpPr>
        <p:spPr>
          <a:xfrm>
            <a:off x="2029096" y="2548470"/>
            <a:ext cx="115649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800" b="0" i="0" dirty="0" err="1">
                <a:solidFill>
                  <a:srgbClr val="FFFF00"/>
                </a:solidFill>
                <a:effectLst/>
                <a:latin typeface="Google Sans"/>
              </a:rPr>
              <a:t>Simulacion</a:t>
            </a:r>
            <a:endParaRPr lang="es-ES" sz="4800" b="0" i="0" dirty="0">
              <a:solidFill>
                <a:srgbClr val="FFFF00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359477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14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" y="-217714"/>
            <a:ext cx="12192000" cy="700115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47DF694-7510-43CD-BBC3-B80C8F516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57" y="74560"/>
            <a:ext cx="6053894" cy="626862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AB60B89-B38A-429E-8D7D-7F9768192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227" y="248467"/>
            <a:ext cx="4880266" cy="616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57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15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3154"/>
            <a:ext cx="12192000" cy="700115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AF3DA14-986E-453B-BC28-446C87F8D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281" y="103959"/>
            <a:ext cx="4848225" cy="616267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1A3211B-C883-4777-83FF-FB352AAB5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203" y="103959"/>
            <a:ext cx="3952875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17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16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5462"/>
            <a:ext cx="12192000" cy="700115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711F6A5-0291-43A5-B8F3-80CA8AC24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318" y="0"/>
            <a:ext cx="8950979" cy="66991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8343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17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5462"/>
            <a:ext cx="12192000" cy="700115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E6A9089-8C0E-4DE3-A1BF-9F0A51C42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126" y="100512"/>
            <a:ext cx="8639039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964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18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5462"/>
            <a:ext cx="12192000" cy="700115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719E299-0F51-4486-A286-91A1370D5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090" y="-111942"/>
            <a:ext cx="7623110" cy="672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13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19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3154"/>
            <a:ext cx="12192000" cy="700115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391FDB1-403B-4223-85C7-DD407713F15D}"/>
              </a:ext>
            </a:extLst>
          </p:cNvPr>
          <p:cNvSpPr/>
          <p:nvPr/>
        </p:nvSpPr>
        <p:spPr>
          <a:xfrm>
            <a:off x="-974746" y="2593450"/>
            <a:ext cx="10491015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s-ES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Técnica </a:t>
            </a:r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de </a:t>
            </a:r>
            <a:r>
              <a:rPr lang="es-ES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de</a:t>
            </a:r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Euler</a:t>
            </a:r>
          </a:p>
          <a:p>
            <a:pPr algn="ctr"/>
            <a:r>
              <a:rPr lang="es-ES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Runge </a:t>
            </a:r>
            <a:r>
              <a:rPr lang="es-ES" sz="5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Kuta</a:t>
            </a:r>
            <a:endParaRPr lang="es-E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lang="es-E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872EE47-F04A-4310-A28B-413AD8D9BC5B}"/>
              </a:ext>
            </a:extLst>
          </p:cNvPr>
          <p:cNvSpPr txBox="1"/>
          <p:nvPr/>
        </p:nvSpPr>
        <p:spPr>
          <a:xfrm>
            <a:off x="409993" y="278127"/>
            <a:ext cx="111898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400" b="0" i="0" dirty="0" err="1">
                <a:solidFill>
                  <a:srgbClr val="FFFF00"/>
                </a:solidFill>
                <a:effectLst/>
                <a:latin typeface="Google Sans"/>
              </a:rPr>
              <a:t>Tecnica</a:t>
            </a:r>
            <a:r>
              <a:rPr lang="es-ES" sz="5400" b="0" i="0" dirty="0">
                <a:solidFill>
                  <a:srgbClr val="FFFF00"/>
                </a:solidFill>
                <a:effectLst/>
                <a:latin typeface="Google Sans"/>
              </a:rPr>
              <a:t> II: </a:t>
            </a:r>
            <a:r>
              <a:rPr lang="es-ES" sz="5400" b="0" i="0" dirty="0" err="1">
                <a:solidFill>
                  <a:srgbClr val="FFFF00"/>
                </a:solidFill>
                <a:effectLst/>
                <a:latin typeface="Google Sans"/>
              </a:rPr>
              <a:t>Integracion</a:t>
            </a:r>
            <a:r>
              <a:rPr lang="es-ES" sz="5400" b="0" i="0" dirty="0">
                <a:solidFill>
                  <a:srgbClr val="FFFF00"/>
                </a:solidFill>
                <a:effectLst/>
                <a:latin typeface="Google Sans"/>
              </a:rPr>
              <a:t> </a:t>
            </a:r>
            <a:r>
              <a:rPr lang="es-ES" sz="5400" b="0" i="0" dirty="0" err="1">
                <a:solidFill>
                  <a:srgbClr val="FFFF00"/>
                </a:solidFill>
                <a:effectLst/>
                <a:latin typeface="Google Sans"/>
              </a:rPr>
              <a:t>Numerica</a:t>
            </a:r>
            <a:endParaRPr lang="es-ES" sz="5400" b="0" i="0" dirty="0">
              <a:solidFill>
                <a:srgbClr val="FFFF00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908343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20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5462"/>
            <a:ext cx="12192000" cy="7001154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FCD4518-301E-4800-BB30-1B47148D9B01}"/>
              </a:ext>
            </a:extLst>
          </p:cNvPr>
          <p:cNvSpPr/>
          <p:nvPr/>
        </p:nvSpPr>
        <p:spPr>
          <a:xfrm>
            <a:off x="104503" y="-92816"/>
            <a:ext cx="11791406" cy="390876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Tecnica</a:t>
            </a:r>
            <a:r>
              <a:rPr lang="es-ES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de  </a:t>
            </a:r>
            <a:r>
              <a:rPr lang="es-ES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de</a:t>
            </a:r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Euler</a:t>
            </a:r>
          </a:p>
          <a:p>
            <a:r>
              <a:rPr lang="es-ES" sz="2800" b="0" i="0" dirty="0">
                <a:solidFill>
                  <a:schemeClr val="bg1"/>
                </a:solidFill>
                <a:effectLst/>
                <a:latin typeface="Google Sans"/>
              </a:rPr>
              <a:t>considere la ecuación diferencial y'(x) = f(x, y) con la condición inicial y(x0) = </a:t>
            </a:r>
            <a:r>
              <a:rPr lang="es-ES" sz="2800" b="0" i="0" dirty="0" err="1">
                <a:solidFill>
                  <a:schemeClr val="bg1"/>
                </a:solidFill>
                <a:effectLst/>
                <a:latin typeface="Google Sans"/>
              </a:rPr>
              <a:t>y</a:t>
            </a:r>
            <a:r>
              <a:rPr lang="es-ES" b="0" i="0" dirty="0" err="1">
                <a:solidFill>
                  <a:schemeClr val="bg1"/>
                </a:solidFill>
                <a:effectLst/>
                <a:latin typeface="Google Sans"/>
              </a:rPr>
              <a:t>O</a:t>
            </a:r>
            <a:r>
              <a:rPr lang="es-ES" sz="2800" b="0" i="0" dirty="0">
                <a:solidFill>
                  <a:schemeClr val="bg1"/>
                </a:solidFill>
                <a:effectLst/>
                <a:latin typeface="Google Sans"/>
              </a:rPr>
              <a:t>. El método de Euler aproxima la solución CON LONGITUD DE  </a:t>
            </a:r>
            <a:r>
              <a:rPr lang="es-ES" sz="2800" b="0" i="0" dirty="0" err="1">
                <a:solidFill>
                  <a:schemeClr val="bg1"/>
                </a:solidFill>
                <a:effectLst/>
                <a:latin typeface="Google Sans"/>
              </a:rPr>
              <a:t>de</a:t>
            </a:r>
            <a:r>
              <a:rPr lang="es-ES" sz="2800" b="0" i="0" dirty="0">
                <a:solidFill>
                  <a:schemeClr val="bg1"/>
                </a:solidFill>
                <a:effectLst/>
                <a:latin typeface="Google Sans"/>
              </a:rPr>
              <a:t> pasos h pequeños, utilizando la pendiente de la función f(x, y) en el punto actual para estimar el valor en el siguiente punto. El intervalo se  define y luego se define e l </a:t>
            </a:r>
            <a:r>
              <a:rPr lang="es-ES" sz="2800" b="0" i="0" dirty="0" err="1">
                <a:solidFill>
                  <a:schemeClr val="bg1"/>
                </a:solidFill>
                <a:effectLst/>
                <a:latin typeface="Google Sans"/>
              </a:rPr>
              <a:t>alongitud</a:t>
            </a:r>
            <a:r>
              <a:rPr lang="es-ES" sz="2800" b="0" i="0" dirty="0">
                <a:solidFill>
                  <a:schemeClr val="bg1"/>
                </a:solidFill>
                <a:effectLst/>
                <a:latin typeface="Google Sans"/>
              </a:rPr>
              <a:t> </a:t>
            </a:r>
            <a:r>
              <a:rPr lang="es-ES" sz="2800" b="0" i="0" dirty="0" err="1">
                <a:solidFill>
                  <a:schemeClr val="bg1"/>
                </a:solidFill>
                <a:effectLst/>
                <a:latin typeface="Google Sans"/>
              </a:rPr>
              <a:t>hh</a:t>
            </a:r>
            <a:r>
              <a:rPr lang="es-ES" sz="2800" b="0" i="0" dirty="0">
                <a:solidFill>
                  <a:schemeClr val="bg1"/>
                </a:solidFill>
                <a:effectLst/>
                <a:latin typeface="Google Sans"/>
              </a:rPr>
              <a:t> para n puntos</a:t>
            </a:r>
            <a:endParaRPr lang="es-ES" sz="2800" b="1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lang="es-E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98035D9-E69A-438D-9005-0BB724501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17" y="2819888"/>
            <a:ext cx="7736541" cy="25951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818A339-D65F-4F74-8B19-489DB5C4E5D2}"/>
              </a:ext>
            </a:extLst>
          </p:cNvPr>
          <p:cNvSpPr/>
          <p:nvPr/>
        </p:nvSpPr>
        <p:spPr>
          <a:xfrm>
            <a:off x="7576303" y="2959056"/>
            <a:ext cx="44595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y</a:t>
            </a:r>
            <a:r>
              <a:rPr lang="es-ES" sz="105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</a:t>
            </a:r>
            <a:endParaRPr lang="es-ES" sz="2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174C642-1BC5-4716-842F-8CA3C77B4372}"/>
              </a:ext>
            </a:extLst>
          </p:cNvPr>
          <p:cNvSpPr/>
          <p:nvPr/>
        </p:nvSpPr>
        <p:spPr>
          <a:xfrm>
            <a:off x="7499759" y="3787921"/>
            <a:ext cx="928460" cy="129266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h=0.1</a:t>
            </a:r>
          </a:p>
          <a:p>
            <a:pPr algn="ctr"/>
            <a:endParaRPr lang="es-E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F87E636-D411-4945-BB57-DAE0B202A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5873" y="2927472"/>
            <a:ext cx="3389812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17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21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" y="136525"/>
            <a:ext cx="12192000" cy="700115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AAD0AB1-9B84-4416-8161-69F068D00597}"/>
              </a:ext>
            </a:extLst>
          </p:cNvPr>
          <p:cNvSpPr txBox="1"/>
          <p:nvPr/>
        </p:nvSpPr>
        <p:spPr>
          <a:xfrm>
            <a:off x="439782" y="-21578"/>
            <a:ext cx="1129066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Considere  la siguiente ecuación diferencial </a:t>
            </a:r>
          </a:p>
          <a:p>
            <a:r>
              <a:rPr lang="es-ES" sz="3200" dirty="0">
                <a:solidFill>
                  <a:schemeClr val="bg1"/>
                </a:solidFill>
              </a:rPr>
              <a:t>Y’= x+2y. Hallar la solución </a:t>
            </a:r>
            <a:r>
              <a:rPr lang="es-ES" sz="3200" dirty="0" err="1">
                <a:solidFill>
                  <a:schemeClr val="bg1"/>
                </a:solidFill>
              </a:rPr>
              <a:t>aprimada</a:t>
            </a:r>
            <a:r>
              <a:rPr lang="es-ES" sz="3200" dirty="0">
                <a:solidFill>
                  <a:schemeClr val="bg1"/>
                </a:solidFill>
              </a:rPr>
              <a:t> usando 40  puntos</a:t>
            </a:r>
          </a:p>
          <a:p>
            <a:r>
              <a:rPr lang="es-ES" sz="3200" dirty="0">
                <a:solidFill>
                  <a:schemeClr val="bg1"/>
                </a:solidFill>
              </a:rPr>
              <a:t>Tome h=0.05,  </a:t>
            </a:r>
            <a:r>
              <a:rPr lang="es-ES" sz="3200" dirty="0" err="1">
                <a:solidFill>
                  <a:schemeClr val="bg1"/>
                </a:solidFill>
              </a:rPr>
              <a:t>xo</a:t>
            </a:r>
            <a:r>
              <a:rPr lang="es-ES" sz="3200" dirty="0">
                <a:solidFill>
                  <a:schemeClr val="bg1"/>
                </a:solidFill>
              </a:rPr>
              <a:t>=0, yo=1</a:t>
            </a:r>
          </a:p>
          <a:p>
            <a:endParaRPr lang="es-PE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BF1CD054-1969-4916-91E8-55C5550D1CC3}"/>
              </a:ext>
            </a:extLst>
          </p:cNvPr>
          <p:cNvCxnSpPr/>
          <p:nvPr/>
        </p:nvCxnSpPr>
        <p:spPr>
          <a:xfrm flipH="1" flipV="1">
            <a:off x="2403565" y="1993859"/>
            <a:ext cx="104503" cy="405819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612461A-75A7-4B4F-AEB3-635998A95F66}"/>
              </a:ext>
            </a:extLst>
          </p:cNvPr>
          <p:cNvCxnSpPr>
            <a:cxnSpLocks/>
          </p:cNvCxnSpPr>
          <p:nvPr/>
        </p:nvCxnSpPr>
        <p:spPr>
          <a:xfrm>
            <a:off x="2037806" y="5538651"/>
            <a:ext cx="7646125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F24D02F-2F00-4711-9D0C-FE0869879E4A}"/>
              </a:ext>
            </a:extLst>
          </p:cNvPr>
          <p:cNvSpPr txBox="1"/>
          <p:nvPr/>
        </p:nvSpPr>
        <p:spPr>
          <a:xfrm>
            <a:off x="1789611" y="4840584"/>
            <a:ext cx="6156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 err="1">
                <a:solidFill>
                  <a:schemeClr val="bg1"/>
                </a:solidFill>
              </a:rPr>
              <a:t>Xo,yo</a:t>
            </a:r>
            <a:r>
              <a:rPr lang="es-ES" sz="1800" dirty="0">
                <a:solidFill>
                  <a:schemeClr val="bg1"/>
                </a:solidFill>
              </a:rPr>
              <a:t>) </a:t>
            </a:r>
            <a:r>
              <a:rPr lang="es-ES" dirty="0">
                <a:solidFill>
                  <a:schemeClr val="bg1"/>
                </a:solidFill>
              </a:rPr>
              <a:t>(0,1)</a:t>
            </a:r>
          </a:p>
          <a:p>
            <a:r>
              <a:rPr lang="es-ES" dirty="0">
                <a:solidFill>
                  <a:schemeClr val="bg1"/>
                </a:solidFill>
              </a:rPr>
              <a:t>             yo</a:t>
            </a:r>
          </a:p>
          <a:p>
            <a:r>
              <a:rPr lang="es-ES" dirty="0">
                <a:solidFill>
                  <a:schemeClr val="bg1"/>
                </a:solidFill>
              </a:rPr>
              <a:t>          </a:t>
            </a:r>
          </a:p>
          <a:p>
            <a:r>
              <a:rPr lang="es-ES" dirty="0">
                <a:solidFill>
                  <a:schemeClr val="bg1"/>
                </a:solidFill>
              </a:rPr>
              <a:t>             </a:t>
            </a:r>
            <a:r>
              <a:rPr lang="es-ES" dirty="0" err="1">
                <a:solidFill>
                  <a:schemeClr val="bg1"/>
                </a:solidFill>
              </a:rPr>
              <a:t>xo</a:t>
            </a:r>
            <a:r>
              <a:rPr lang="es-ES" dirty="0">
                <a:solidFill>
                  <a:schemeClr val="bg1"/>
                </a:solidFill>
              </a:rPr>
              <a:t>        x1         x2          x3          x4              x5          x6       </a:t>
            </a:r>
            <a:r>
              <a:rPr lang="es-ES" dirty="0" err="1">
                <a:solidFill>
                  <a:schemeClr val="bg1"/>
                </a:solidFill>
              </a:rPr>
              <a:t>xn</a:t>
            </a:r>
            <a:endParaRPr lang="es-ES" dirty="0">
              <a:solidFill>
                <a:schemeClr val="bg1"/>
              </a:solidFill>
            </a:endParaRPr>
          </a:p>
          <a:p>
            <a:endParaRPr lang="es-PE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48C78D1-FBBD-4B23-9F50-3C634C4E4AA0}"/>
              </a:ext>
            </a:extLst>
          </p:cNvPr>
          <p:cNvCxnSpPr>
            <a:cxnSpLocks/>
          </p:cNvCxnSpPr>
          <p:nvPr/>
        </p:nvCxnSpPr>
        <p:spPr>
          <a:xfrm flipV="1">
            <a:off x="2511634" y="4992606"/>
            <a:ext cx="0" cy="513401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4F8EF913-F60D-4955-8725-6A9E90628B1B}"/>
              </a:ext>
            </a:extLst>
          </p:cNvPr>
          <p:cNvCxnSpPr>
            <a:cxnSpLocks/>
          </p:cNvCxnSpPr>
          <p:nvPr/>
        </p:nvCxnSpPr>
        <p:spPr>
          <a:xfrm flipV="1">
            <a:off x="3177840" y="4598126"/>
            <a:ext cx="0" cy="94052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A32C2EB0-7F86-4A00-9DC4-99453094A4CB}"/>
              </a:ext>
            </a:extLst>
          </p:cNvPr>
          <p:cNvCxnSpPr>
            <a:cxnSpLocks/>
          </p:cNvCxnSpPr>
          <p:nvPr/>
        </p:nvCxnSpPr>
        <p:spPr>
          <a:xfrm flipV="1">
            <a:off x="3913715" y="3875314"/>
            <a:ext cx="0" cy="1630693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D3D956F6-D8C9-43D8-B1E2-3827A53B39EB}"/>
              </a:ext>
            </a:extLst>
          </p:cNvPr>
          <p:cNvCxnSpPr>
            <a:cxnSpLocks/>
          </p:cNvCxnSpPr>
          <p:nvPr/>
        </p:nvCxnSpPr>
        <p:spPr>
          <a:xfrm flipV="1">
            <a:off x="4640881" y="4249782"/>
            <a:ext cx="0" cy="128886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8E1788C0-7D8E-4A73-9D04-53EB23181218}"/>
              </a:ext>
            </a:extLst>
          </p:cNvPr>
          <p:cNvCxnSpPr>
            <a:cxnSpLocks/>
          </p:cNvCxnSpPr>
          <p:nvPr/>
        </p:nvCxnSpPr>
        <p:spPr>
          <a:xfrm flipV="1">
            <a:off x="5359338" y="3291840"/>
            <a:ext cx="0" cy="218149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6B4E212B-9509-49D4-8CD0-1935BA81A805}"/>
              </a:ext>
            </a:extLst>
          </p:cNvPr>
          <p:cNvCxnSpPr>
            <a:cxnSpLocks/>
          </p:cNvCxnSpPr>
          <p:nvPr/>
        </p:nvCxnSpPr>
        <p:spPr>
          <a:xfrm flipV="1">
            <a:off x="6356469" y="2647406"/>
            <a:ext cx="0" cy="2825934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FEDF23F-41A6-4BD9-82E8-D9D4C447FDF7}"/>
              </a:ext>
            </a:extLst>
          </p:cNvPr>
          <p:cNvCxnSpPr>
            <a:cxnSpLocks/>
          </p:cNvCxnSpPr>
          <p:nvPr/>
        </p:nvCxnSpPr>
        <p:spPr>
          <a:xfrm flipV="1">
            <a:off x="7135886" y="2952206"/>
            <a:ext cx="0" cy="262346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Forma libre: forma 33">
            <a:extLst>
              <a:ext uri="{FF2B5EF4-FFF2-40B4-BE49-F238E27FC236}">
                <a16:creationId xmlns:a16="http://schemas.microsoft.com/office/drawing/2014/main" id="{DF03C199-C302-42D8-84D1-51C9291A8BE1}"/>
              </a:ext>
            </a:extLst>
          </p:cNvPr>
          <p:cNvSpPr/>
          <p:nvPr/>
        </p:nvSpPr>
        <p:spPr>
          <a:xfrm>
            <a:off x="2525485" y="4598126"/>
            <a:ext cx="648777" cy="444137"/>
          </a:xfrm>
          <a:custGeom>
            <a:avLst/>
            <a:gdLst>
              <a:gd name="connsiteX0" fmla="*/ 0 w 644434"/>
              <a:gd name="connsiteY0" fmla="*/ 314085 h 314085"/>
              <a:gd name="connsiteX1" fmla="*/ 121920 w 644434"/>
              <a:gd name="connsiteY1" fmla="*/ 296668 h 314085"/>
              <a:gd name="connsiteX2" fmla="*/ 182880 w 644434"/>
              <a:gd name="connsiteY2" fmla="*/ 253125 h 314085"/>
              <a:gd name="connsiteX3" fmla="*/ 217714 w 644434"/>
              <a:gd name="connsiteY3" fmla="*/ 235708 h 314085"/>
              <a:gd name="connsiteX4" fmla="*/ 278674 w 644434"/>
              <a:gd name="connsiteY4" fmla="*/ 192165 h 314085"/>
              <a:gd name="connsiteX5" fmla="*/ 296091 w 644434"/>
              <a:gd name="connsiteY5" fmla="*/ 166039 h 314085"/>
              <a:gd name="connsiteX6" fmla="*/ 409303 w 644434"/>
              <a:gd name="connsiteY6" fmla="*/ 122496 h 314085"/>
              <a:gd name="connsiteX7" fmla="*/ 444137 w 644434"/>
              <a:gd name="connsiteY7" fmla="*/ 105079 h 314085"/>
              <a:gd name="connsiteX8" fmla="*/ 505097 w 644434"/>
              <a:gd name="connsiteY8" fmla="*/ 87662 h 314085"/>
              <a:gd name="connsiteX9" fmla="*/ 531223 w 644434"/>
              <a:gd name="connsiteY9" fmla="*/ 70245 h 314085"/>
              <a:gd name="connsiteX10" fmla="*/ 583474 w 644434"/>
              <a:gd name="connsiteY10" fmla="*/ 44119 h 314085"/>
              <a:gd name="connsiteX11" fmla="*/ 635725 w 644434"/>
              <a:gd name="connsiteY11" fmla="*/ 576 h 314085"/>
              <a:gd name="connsiteX12" fmla="*/ 644434 w 644434"/>
              <a:gd name="connsiteY12" fmla="*/ 576 h 314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44434" h="314085">
                <a:moveTo>
                  <a:pt x="0" y="314085"/>
                </a:moveTo>
                <a:cubicBezTo>
                  <a:pt x="24463" y="311861"/>
                  <a:pt x="88416" y="313420"/>
                  <a:pt x="121920" y="296668"/>
                </a:cubicBezTo>
                <a:cubicBezTo>
                  <a:pt x="140336" y="287460"/>
                  <a:pt x="167111" y="262980"/>
                  <a:pt x="182880" y="253125"/>
                </a:cubicBezTo>
                <a:cubicBezTo>
                  <a:pt x="193889" y="246245"/>
                  <a:pt x="207150" y="243254"/>
                  <a:pt x="217714" y="235708"/>
                </a:cubicBezTo>
                <a:cubicBezTo>
                  <a:pt x="300093" y="176866"/>
                  <a:pt x="183206" y="239899"/>
                  <a:pt x="278674" y="192165"/>
                </a:cubicBezTo>
                <a:cubicBezTo>
                  <a:pt x="284480" y="183456"/>
                  <a:pt x="287382" y="171845"/>
                  <a:pt x="296091" y="166039"/>
                </a:cubicBezTo>
                <a:cubicBezTo>
                  <a:pt x="350910" y="129493"/>
                  <a:pt x="355192" y="149552"/>
                  <a:pt x="409303" y="122496"/>
                </a:cubicBezTo>
                <a:cubicBezTo>
                  <a:pt x="420914" y="116690"/>
                  <a:pt x="432205" y="110193"/>
                  <a:pt x="444137" y="105079"/>
                </a:cubicBezTo>
                <a:cubicBezTo>
                  <a:pt x="461622" y="97586"/>
                  <a:pt x="487428" y="92079"/>
                  <a:pt x="505097" y="87662"/>
                </a:cubicBezTo>
                <a:cubicBezTo>
                  <a:pt x="513806" y="81856"/>
                  <a:pt x="521862" y="74926"/>
                  <a:pt x="531223" y="70245"/>
                </a:cubicBezTo>
                <a:cubicBezTo>
                  <a:pt x="570496" y="50608"/>
                  <a:pt x="546040" y="75314"/>
                  <a:pt x="583474" y="44119"/>
                </a:cubicBezTo>
                <a:cubicBezTo>
                  <a:pt x="612363" y="20045"/>
                  <a:pt x="603294" y="16791"/>
                  <a:pt x="635725" y="576"/>
                </a:cubicBezTo>
                <a:cubicBezTo>
                  <a:pt x="638322" y="-722"/>
                  <a:pt x="641531" y="576"/>
                  <a:pt x="644434" y="576"/>
                </a:cubicBezTo>
              </a:path>
            </a:pathLst>
          </a:cu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7CD572BC-B441-41BD-BE7A-C5EE76756CFD}"/>
              </a:ext>
            </a:extLst>
          </p:cNvPr>
          <p:cNvCxnSpPr/>
          <p:nvPr/>
        </p:nvCxnSpPr>
        <p:spPr>
          <a:xfrm flipV="1">
            <a:off x="3174262" y="3875314"/>
            <a:ext cx="739453" cy="72281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BEDD9B21-66C8-492A-B0D6-35331BFF6B7F}"/>
              </a:ext>
            </a:extLst>
          </p:cNvPr>
          <p:cNvCxnSpPr>
            <a:cxnSpLocks/>
          </p:cNvCxnSpPr>
          <p:nvPr/>
        </p:nvCxnSpPr>
        <p:spPr>
          <a:xfrm flipH="1" flipV="1">
            <a:off x="3907579" y="3889468"/>
            <a:ext cx="748935" cy="39872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CCAD478-333E-41C4-BAE4-2DD5290A447E}"/>
              </a:ext>
            </a:extLst>
          </p:cNvPr>
          <p:cNvCxnSpPr>
            <a:cxnSpLocks/>
          </p:cNvCxnSpPr>
          <p:nvPr/>
        </p:nvCxnSpPr>
        <p:spPr>
          <a:xfrm flipV="1">
            <a:off x="4619885" y="3286413"/>
            <a:ext cx="739453" cy="100257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F9F8FDFC-9FBC-4BBC-925B-5CDD1FF870E2}"/>
              </a:ext>
            </a:extLst>
          </p:cNvPr>
          <p:cNvCxnSpPr>
            <a:cxnSpLocks/>
          </p:cNvCxnSpPr>
          <p:nvPr/>
        </p:nvCxnSpPr>
        <p:spPr>
          <a:xfrm flipV="1">
            <a:off x="5284454" y="2668665"/>
            <a:ext cx="1040748" cy="70516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21AB29D6-AD2F-4CD6-97DF-920AEDF988C1}"/>
              </a:ext>
            </a:extLst>
          </p:cNvPr>
          <p:cNvCxnSpPr>
            <a:cxnSpLocks/>
          </p:cNvCxnSpPr>
          <p:nvPr/>
        </p:nvCxnSpPr>
        <p:spPr>
          <a:xfrm flipH="1" flipV="1">
            <a:off x="6325203" y="2669509"/>
            <a:ext cx="810683" cy="282697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43F70364-F428-4DA2-9C60-C4FADC43D50B}"/>
              </a:ext>
            </a:extLst>
          </p:cNvPr>
          <p:cNvSpPr txBox="1"/>
          <p:nvPr/>
        </p:nvSpPr>
        <p:spPr>
          <a:xfrm>
            <a:off x="2081338" y="4434237"/>
            <a:ext cx="47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y1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58D1C515-63CC-4FB5-A9EC-2709FD226D4B}"/>
              </a:ext>
            </a:extLst>
          </p:cNvPr>
          <p:cNvSpPr txBox="1"/>
          <p:nvPr/>
        </p:nvSpPr>
        <p:spPr>
          <a:xfrm>
            <a:off x="2093990" y="3844014"/>
            <a:ext cx="47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y2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DADF43C-47C4-41C9-9542-ED9DF2E47227}"/>
              </a:ext>
            </a:extLst>
          </p:cNvPr>
          <p:cNvSpPr txBox="1"/>
          <p:nvPr/>
        </p:nvSpPr>
        <p:spPr>
          <a:xfrm>
            <a:off x="2065706" y="4143432"/>
            <a:ext cx="47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y3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A11E0A4-8658-4B46-8F36-AC629143BB21}"/>
              </a:ext>
            </a:extLst>
          </p:cNvPr>
          <p:cNvSpPr txBox="1"/>
          <p:nvPr/>
        </p:nvSpPr>
        <p:spPr>
          <a:xfrm>
            <a:off x="1999505" y="3064754"/>
            <a:ext cx="47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y4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C55521D8-47F3-4302-93F0-16AE8B7E7C58}"/>
              </a:ext>
            </a:extLst>
          </p:cNvPr>
          <p:cNvSpPr txBox="1"/>
          <p:nvPr/>
        </p:nvSpPr>
        <p:spPr>
          <a:xfrm>
            <a:off x="2007321" y="2361047"/>
            <a:ext cx="47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y5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D2681848-DFB2-4666-BE77-87C2936BE270}"/>
              </a:ext>
            </a:extLst>
          </p:cNvPr>
          <p:cNvSpPr txBox="1"/>
          <p:nvPr/>
        </p:nvSpPr>
        <p:spPr>
          <a:xfrm>
            <a:off x="3132112" y="4518626"/>
            <a:ext cx="47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9896F197-0784-4B88-8B17-AA8FBF30240F}"/>
              </a:ext>
            </a:extLst>
          </p:cNvPr>
          <p:cNvSpPr txBox="1"/>
          <p:nvPr/>
        </p:nvSpPr>
        <p:spPr>
          <a:xfrm>
            <a:off x="3761314" y="3808618"/>
            <a:ext cx="47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B418CE95-350B-4CDA-9DBE-9FFD02D1F337}"/>
              </a:ext>
            </a:extLst>
          </p:cNvPr>
          <p:cNvSpPr txBox="1"/>
          <p:nvPr/>
        </p:nvSpPr>
        <p:spPr>
          <a:xfrm>
            <a:off x="4519349" y="4184380"/>
            <a:ext cx="47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F3B079DB-E9AE-4C72-BF67-74F9D43F5EA1}"/>
              </a:ext>
            </a:extLst>
          </p:cNvPr>
          <p:cNvSpPr txBox="1"/>
          <p:nvPr/>
        </p:nvSpPr>
        <p:spPr>
          <a:xfrm>
            <a:off x="5210876" y="3265771"/>
            <a:ext cx="47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324ED03-1648-4EB4-9F12-B46FD6543E65}"/>
              </a:ext>
            </a:extLst>
          </p:cNvPr>
          <p:cNvSpPr txBox="1"/>
          <p:nvPr/>
        </p:nvSpPr>
        <p:spPr>
          <a:xfrm>
            <a:off x="6163649" y="2585240"/>
            <a:ext cx="47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98F6F50-F460-4E3A-B3CC-A27331049337}"/>
              </a:ext>
            </a:extLst>
          </p:cNvPr>
          <p:cNvSpPr txBox="1"/>
          <p:nvPr/>
        </p:nvSpPr>
        <p:spPr>
          <a:xfrm>
            <a:off x="7002108" y="2730379"/>
            <a:ext cx="47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D97F1B2C-F5ED-4191-9D7B-212986A64707}"/>
              </a:ext>
            </a:extLst>
          </p:cNvPr>
          <p:cNvSpPr txBox="1"/>
          <p:nvPr/>
        </p:nvSpPr>
        <p:spPr>
          <a:xfrm>
            <a:off x="3339343" y="5157258"/>
            <a:ext cx="47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7A643B89-7896-43DD-A38F-BE3442D494E3}"/>
              </a:ext>
            </a:extLst>
          </p:cNvPr>
          <p:cNvSpPr txBox="1"/>
          <p:nvPr/>
        </p:nvSpPr>
        <p:spPr>
          <a:xfrm>
            <a:off x="3996445" y="5179104"/>
            <a:ext cx="47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4092A46D-FB67-4A13-B126-67E8BFC92C81}"/>
              </a:ext>
            </a:extLst>
          </p:cNvPr>
          <p:cNvSpPr txBox="1"/>
          <p:nvPr/>
        </p:nvSpPr>
        <p:spPr>
          <a:xfrm>
            <a:off x="4844375" y="5136663"/>
            <a:ext cx="47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8CA1E6BF-7C63-4CA6-8082-E7BFF6771FBA}"/>
              </a:ext>
            </a:extLst>
          </p:cNvPr>
          <p:cNvSpPr txBox="1"/>
          <p:nvPr/>
        </p:nvSpPr>
        <p:spPr>
          <a:xfrm>
            <a:off x="5529550" y="5159800"/>
            <a:ext cx="47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FB606778-A0F4-46D0-990B-3689AE84B832}"/>
              </a:ext>
            </a:extLst>
          </p:cNvPr>
          <p:cNvSpPr txBox="1"/>
          <p:nvPr/>
        </p:nvSpPr>
        <p:spPr>
          <a:xfrm>
            <a:off x="6486308" y="5132227"/>
            <a:ext cx="470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70" name="Forma libre: forma 69">
            <a:extLst>
              <a:ext uri="{FF2B5EF4-FFF2-40B4-BE49-F238E27FC236}">
                <a16:creationId xmlns:a16="http://schemas.microsoft.com/office/drawing/2014/main" id="{28BDDDC6-EE12-44F6-BA35-EDBA69EDDF7F}"/>
              </a:ext>
            </a:extLst>
          </p:cNvPr>
          <p:cNvSpPr/>
          <p:nvPr/>
        </p:nvSpPr>
        <p:spPr>
          <a:xfrm>
            <a:off x="2508069" y="2603863"/>
            <a:ext cx="6601097" cy="2508068"/>
          </a:xfrm>
          <a:custGeom>
            <a:avLst/>
            <a:gdLst>
              <a:gd name="connsiteX0" fmla="*/ 0 w 6601097"/>
              <a:gd name="connsiteY0" fmla="*/ 2508068 h 2508068"/>
              <a:gd name="connsiteX1" fmla="*/ 130628 w 6601097"/>
              <a:gd name="connsiteY1" fmla="*/ 2473234 h 2508068"/>
              <a:gd name="connsiteX2" fmla="*/ 200297 w 6601097"/>
              <a:gd name="connsiteY2" fmla="*/ 2447108 h 2508068"/>
              <a:gd name="connsiteX3" fmla="*/ 339634 w 6601097"/>
              <a:gd name="connsiteY3" fmla="*/ 2351314 h 2508068"/>
              <a:gd name="connsiteX4" fmla="*/ 418011 w 6601097"/>
              <a:gd name="connsiteY4" fmla="*/ 2299063 h 2508068"/>
              <a:gd name="connsiteX5" fmla="*/ 444137 w 6601097"/>
              <a:gd name="connsiteY5" fmla="*/ 2281646 h 2508068"/>
              <a:gd name="connsiteX6" fmla="*/ 496388 w 6601097"/>
              <a:gd name="connsiteY6" fmla="*/ 2229394 h 2508068"/>
              <a:gd name="connsiteX7" fmla="*/ 539931 w 6601097"/>
              <a:gd name="connsiteY7" fmla="*/ 2211977 h 2508068"/>
              <a:gd name="connsiteX8" fmla="*/ 635725 w 6601097"/>
              <a:gd name="connsiteY8" fmla="*/ 2133600 h 2508068"/>
              <a:gd name="connsiteX9" fmla="*/ 670560 w 6601097"/>
              <a:gd name="connsiteY9" fmla="*/ 2098766 h 2508068"/>
              <a:gd name="connsiteX10" fmla="*/ 705394 w 6601097"/>
              <a:gd name="connsiteY10" fmla="*/ 2090057 h 2508068"/>
              <a:gd name="connsiteX11" fmla="*/ 801188 w 6601097"/>
              <a:gd name="connsiteY11" fmla="*/ 1994263 h 2508068"/>
              <a:gd name="connsiteX12" fmla="*/ 888274 w 6601097"/>
              <a:gd name="connsiteY12" fmla="*/ 1915886 h 2508068"/>
              <a:gd name="connsiteX13" fmla="*/ 914400 w 6601097"/>
              <a:gd name="connsiteY13" fmla="*/ 1907177 h 2508068"/>
              <a:gd name="connsiteX14" fmla="*/ 966651 w 6601097"/>
              <a:gd name="connsiteY14" fmla="*/ 1863634 h 2508068"/>
              <a:gd name="connsiteX15" fmla="*/ 1071154 w 6601097"/>
              <a:gd name="connsiteY15" fmla="*/ 1811383 h 2508068"/>
              <a:gd name="connsiteX16" fmla="*/ 1105988 w 6601097"/>
              <a:gd name="connsiteY16" fmla="*/ 1793966 h 2508068"/>
              <a:gd name="connsiteX17" fmla="*/ 1132114 w 6601097"/>
              <a:gd name="connsiteY17" fmla="*/ 1785257 h 2508068"/>
              <a:gd name="connsiteX18" fmla="*/ 1166948 w 6601097"/>
              <a:gd name="connsiteY18" fmla="*/ 1767840 h 2508068"/>
              <a:gd name="connsiteX19" fmla="*/ 1314994 w 6601097"/>
              <a:gd name="connsiteY19" fmla="*/ 1724297 h 2508068"/>
              <a:gd name="connsiteX20" fmla="*/ 1358537 w 6601097"/>
              <a:gd name="connsiteY20" fmla="*/ 1706880 h 2508068"/>
              <a:gd name="connsiteX21" fmla="*/ 1410788 w 6601097"/>
              <a:gd name="connsiteY21" fmla="*/ 1698171 h 2508068"/>
              <a:gd name="connsiteX22" fmla="*/ 1506582 w 6601097"/>
              <a:gd name="connsiteY22" fmla="*/ 1672046 h 2508068"/>
              <a:gd name="connsiteX23" fmla="*/ 1558834 w 6601097"/>
              <a:gd name="connsiteY23" fmla="*/ 1663337 h 2508068"/>
              <a:gd name="connsiteX24" fmla="*/ 1584960 w 6601097"/>
              <a:gd name="connsiteY24" fmla="*/ 1654628 h 2508068"/>
              <a:gd name="connsiteX25" fmla="*/ 1619794 w 6601097"/>
              <a:gd name="connsiteY25" fmla="*/ 1645920 h 2508068"/>
              <a:gd name="connsiteX26" fmla="*/ 1645920 w 6601097"/>
              <a:gd name="connsiteY26" fmla="*/ 1637211 h 2508068"/>
              <a:gd name="connsiteX27" fmla="*/ 1733005 w 6601097"/>
              <a:gd name="connsiteY27" fmla="*/ 1619794 h 2508068"/>
              <a:gd name="connsiteX28" fmla="*/ 1802674 w 6601097"/>
              <a:gd name="connsiteY28" fmla="*/ 1593668 h 2508068"/>
              <a:gd name="connsiteX29" fmla="*/ 1872342 w 6601097"/>
              <a:gd name="connsiteY29" fmla="*/ 1576251 h 2508068"/>
              <a:gd name="connsiteX30" fmla="*/ 1950720 w 6601097"/>
              <a:gd name="connsiteY30" fmla="*/ 1550126 h 2508068"/>
              <a:gd name="connsiteX31" fmla="*/ 2098765 w 6601097"/>
              <a:gd name="connsiteY31" fmla="*/ 1471748 h 2508068"/>
              <a:gd name="connsiteX32" fmla="*/ 2168434 w 6601097"/>
              <a:gd name="connsiteY32" fmla="*/ 1445623 h 2508068"/>
              <a:gd name="connsiteX33" fmla="*/ 2229394 w 6601097"/>
              <a:gd name="connsiteY33" fmla="*/ 1410788 h 2508068"/>
              <a:gd name="connsiteX34" fmla="*/ 2360022 w 6601097"/>
              <a:gd name="connsiteY34" fmla="*/ 1367246 h 2508068"/>
              <a:gd name="connsiteX35" fmla="*/ 2420982 w 6601097"/>
              <a:gd name="connsiteY35" fmla="*/ 1341120 h 2508068"/>
              <a:gd name="connsiteX36" fmla="*/ 2473234 w 6601097"/>
              <a:gd name="connsiteY36" fmla="*/ 1314994 h 2508068"/>
              <a:gd name="connsiteX37" fmla="*/ 2534194 w 6601097"/>
              <a:gd name="connsiteY37" fmla="*/ 1297577 h 2508068"/>
              <a:gd name="connsiteX38" fmla="*/ 2586445 w 6601097"/>
              <a:gd name="connsiteY38" fmla="*/ 1271451 h 2508068"/>
              <a:gd name="connsiteX39" fmla="*/ 2656114 w 6601097"/>
              <a:gd name="connsiteY39" fmla="*/ 1254034 h 2508068"/>
              <a:gd name="connsiteX40" fmla="*/ 2847702 w 6601097"/>
              <a:gd name="connsiteY40" fmla="*/ 1201783 h 2508068"/>
              <a:gd name="connsiteX41" fmla="*/ 2917371 w 6601097"/>
              <a:gd name="connsiteY41" fmla="*/ 1175657 h 2508068"/>
              <a:gd name="connsiteX42" fmla="*/ 2969622 w 6601097"/>
              <a:gd name="connsiteY42" fmla="*/ 1149531 h 2508068"/>
              <a:gd name="connsiteX43" fmla="*/ 3178628 w 6601097"/>
              <a:gd name="connsiteY43" fmla="*/ 1071154 h 2508068"/>
              <a:gd name="connsiteX44" fmla="*/ 3387634 w 6601097"/>
              <a:gd name="connsiteY44" fmla="*/ 1036320 h 2508068"/>
              <a:gd name="connsiteX45" fmla="*/ 3709851 w 6601097"/>
              <a:gd name="connsiteY45" fmla="*/ 931817 h 2508068"/>
              <a:gd name="connsiteX46" fmla="*/ 3866605 w 6601097"/>
              <a:gd name="connsiteY46" fmla="*/ 888274 h 2508068"/>
              <a:gd name="connsiteX47" fmla="*/ 3979817 w 6601097"/>
              <a:gd name="connsiteY47" fmla="*/ 853440 h 2508068"/>
              <a:gd name="connsiteX48" fmla="*/ 4171405 w 6601097"/>
              <a:gd name="connsiteY48" fmla="*/ 801188 h 2508068"/>
              <a:gd name="connsiteX49" fmla="*/ 4362994 w 6601097"/>
              <a:gd name="connsiteY49" fmla="*/ 740228 h 2508068"/>
              <a:gd name="connsiteX50" fmla="*/ 4528457 w 6601097"/>
              <a:gd name="connsiteY50" fmla="*/ 679268 h 2508068"/>
              <a:gd name="connsiteX51" fmla="*/ 4641668 w 6601097"/>
              <a:gd name="connsiteY51" fmla="*/ 653143 h 2508068"/>
              <a:gd name="connsiteX52" fmla="*/ 4841965 w 6601097"/>
              <a:gd name="connsiteY52" fmla="*/ 583474 h 2508068"/>
              <a:gd name="connsiteX53" fmla="*/ 5138057 w 6601097"/>
              <a:gd name="connsiteY53" fmla="*/ 522514 h 2508068"/>
              <a:gd name="connsiteX54" fmla="*/ 5704114 w 6601097"/>
              <a:gd name="connsiteY54" fmla="*/ 365760 h 2508068"/>
              <a:gd name="connsiteX55" fmla="*/ 5991497 w 6601097"/>
              <a:gd name="connsiteY55" fmla="*/ 287383 h 2508068"/>
              <a:gd name="connsiteX56" fmla="*/ 6601097 w 6601097"/>
              <a:gd name="connsiteY56" fmla="*/ 0 h 2508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6601097" h="2508068">
                <a:moveTo>
                  <a:pt x="0" y="2508068"/>
                </a:moveTo>
                <a:cubicBezTo>
                  <a:pt x="76325" y="2491107"/>
                  <a:pt x="66689" y="2496069"/>
                  <a:pt x="130628" y="2473234"/>
                </a:cubicBezTo>
                <a:cubicBezTo>
                  <a:pt x="153985" y="2464892"/>
                  <a:pt x="178873" y="2459605"/>
                  <a:pt x="200297" y="2447108"/>
                </a:cubicBezTo>
                <a:cubicBezTo>
                  <a:pt x="248982" y="2418708"/>
                  <a:pt x="289221" y="2376520"/>
                  <a:pt x="339634" y="2351314"/>
                </a:cubicBezTo>
                <a:cubicBezTo>
                  <a:pt x="398592" y="2321835"/>
                  <a:pt x="353594" y="2347375"/>
                  <a:pt x="418011" y="2299063"/>
                </a:cubicBezTo>
                <a:cubicBezTo>
                  <a:pt x="426384" y="2292783"/>
                  <a:pt x="436314" y="2288600"/>
                  <a:pt x="444137" y="2281646"/>
                </a:cubicBezTo>
                <a:cubicBezTo>
                  <a:pt x="462547" y="2265282"/>
                  <a:pt x="476468" y="2243882"/>
                  <a:pt x="496388" y="2229394"/>
                </a:cubicBezTo>
                <a:cubicBezTo>
                  <a:pt x="509030" y="2220199"/>
                  <a:pt x="527049" y="2220833"/>
                  <a:pt x="539931" y="2211977"/>
                </a:cubicBezTo>
                <a:cubicBezTo>
                  <a:pt x="573929" y="2188604"/>
                  <a:pt x="606551" y="2162773"/>
                  <a:pt x="635725" y="2133600"/>
                </a:cubicBezTo>
                <a:cubicBezTo>
                  <a:pt x="647337" y="2121989"/>
                  <a:pt x="656635" y="2107469"/>
                  <a:pt x="670560" y="2098766"/>
                </a:cubicBezTo>
                <a:cubicBezTo>
                  <a:pt x="680709" y="2092423"/>
                  <a:pt x="693783" y="2092960"/>
                  <a:pt x="705394" y="2090057"/>
                </a:cubicBezTo>
                <a:lnTo>
                  <a:pt x="801188" y="1994263"/>
                </a:lnTo>
                <a:cubicBezTo>
                  <a:pt x="827177" y="1968275"/>
                  <a:pt x="856500" y="1935744"/>
                  <a:pt x="888274" y="1915886"/>
                </a:cubicBezTo>
                <a:cubicBezTo>
                  <a:pt x="896058" y="1911021"/>
                  <a:pt x="905691" y="1910080"/>
                  <a:pt x="914400" y="1907177"/>
                </a:cubicBezTo>
                <a:cubicBezTo>
                  <a:pt x="931817" y="1892663"/>
                  <a:pt x="948315" y="1876969"/>
                  <a:pt x="966651" y="1863634"/>
                </a:cubicBezTo>
                <a:cubicBezTo>
                  <a:pt x="1005566" y="1835332"/>
                  <a:pt x="1025440" y="1832162"/>
                  <a:pt x="1071154" y="1811383"/>
                </a:cubicBezTo>
                <a:cubicBezTo>
                  <a:pt x="1082972" y="1806011"/>
                  <a:pt x="1094056" y="1799080"/>
                  <a:pt x="1105988" y="1793966"/>
                </a:cubicBezTo>
                <a:cubicBezTo>
                  <a:pt x="1114426" y="1790350"/>
                  <a:pt x="1123676" y="1788873"/>
                  <a:pt x="1132114" y="1785257"/>
                </a:cubicBezTo>
                <a:cubicBezTo>
                  <a:pt x="1144046" y="1780143"/>
                  <a:pt x="1154895" y="1772661"/>
                  <a:pt x="1166948" y="1767840"/>
                </a:cubicBezTo>
                <a:cubicBezTo>
                  <a:pt x="1215479" y="1748428"/>
                  <a:pt x="1264801" y="1739982"/>
                  <a:pt x="1314994" y="1724297"/>
                </a:cubicBezTo>
                <a:cubicBezTo>
                  <a:pt x="1329915" y="1719634"/>
                  <a:pt x="1343455" y="1710993"/>
                  <a:pt x="1358537" y="1706880"/>
                </a:cubicBezTo>
                <a:cubicBezTo>
                  <a:pt x="1375572" y="1702234"/>
                  <a:pt x="1393551" y="1702001"/>
                  <a:pt x="1410788" y="1698171"/>
                </a:cubicBezTo>
                <a:cubicBezTo>
                  <a:pt x="1512085" y="1675661"/>
                  <a:pt x="1291206" y="1707943"/>
                  <a:pt x="1506582" y="1672046"/>
                </a:cubicBezTo>
                <a:cubicBezTo>
                  <a:pt x="1523999" y="1669143"/>
                  <a:pt x="1541597" y="1667168"/>
                  <a:pt x="1558834" y="1663337"/>
                </a:cubicBezTo>
                <a:cubicBezTo>
                  <a:pt x="1567795" y="1661346"/>
                  <a:pt x="1576133" y="1657150"/>
                  <a:pt x="1584960" y="1654628"/>
                </a:cubicBezTo>
                <a:cubicBezTo>
                  <a:pt x="1596468" y="1651340"/>
                  <a:pt x="1608286" y="1649208"/>
                  <a:pt x="1619794" y="1645920"/>
                </a:cubicBezTo>
                <a:cubicBezTo>
                  <a:pt x="1628621" y="1643398"/>
                  <a:pt x="1636975" y="1639275"/>
                  <a:pt x="1645920" y="1637211"/>
                </a:cubicBezTo>
                <a:cubicBezTo>
                  <a:pt x="1674765" y="1630554"/>
                  <a:pt x="1704482" y="1627717"/>
                  <a:pt x="1733005" y="1619794"/>
                </a:cubicBezTo>
                <a:cubicBezTo>
                  <a:pt x="1756902" y="1613156"/>
                  <a:pt x="1779001" y="1601066"/>
                  <a:pt x="1802674" y="1593668"/>
                </a:cubicBezTo>
                <a:cubicBezTo>
                  <a:pt x="1825522" y="1586528"/>
                  <a:pt x="1849377" y="1583005"/>
                  <a:pt x="1872342" y="1576251"/>
                </a:cubicBezTo>
                <a:cubicBezTo>
                  <a:pt x="1898762" y="1568481"/>
                  <a:pt x="1925716" y="1561666"/>
                  <a:pt x="1950720" y="1550126"/>
                </a:cubicBezTo>
                <a:cubicBezTo>
                  <a:pt x="2001418" y="1526727"/>
                  <a:pt x="2046483" y="1491353"/>
                  <a:pt x="2098765" y="1471748"/>
                </a:cubicBezTo>
                <a:cubicBezTo>
                  <a:pt x="2121988" y="1463040"/>
                  <a:pt x="2145959" y="1456111"/>
                  <a:pt x="2168434" y="1445623"/>
                </a:cubicBezTo>
                <a:cubicBezTo>
                  <a:pt x="2189642" y="1435726"/>
                  <a:pt x="2207733" y="1419649"/>
                  <a:pt x="2229394" y="1410788"/>
                </a:cubicBezTo>
                <a:cubicBezTo>
                  <a:pt x="2271875" y="1393410"/>
                  <a:pt x="2317835" y="1385326"/>
                  <a:pt x="2360022" y="1367246"/>
                </a:cubicBezTo>
                <a:cubicBezTo>
                  <a:pt x="2380342" y="1358537"/>
                  <a:pt x="2400909" y="1350384"/>
                  <a:pt x="2420982" y="1341120"/>
                </a:cubicBezTo>
                <a:cubicBezTo>
                  <a:pt x="2438663" y="1332960"/>
                  <a:pt x="2455059" y="1321984"/>
                  <a:pt x="2473234" y="1314994"/>
                </a:cubicBezTo>
                <a:cubicBezTo>
                  <a:pt x="2492958" y="1307408"/>
                  <a:pt x="2514470" y="1305163"/>
                  <a:pt x="2534194" y="1297577"/>
                </a:cubicBezTo>
                <a:cubicBezTo>
                  <a:pt x="2552369" y="1290587"/>
                  <a:pt x="2568107" y="1278000"/>
                  <a:pt x="2586445" y="1271451"/>
                </a:cubicBezTo>
                <a:cubicBezTo>
                  <a:pt x="2608988" y="1263400"/>
                  <a:pt x="2632985" y="1260202"/>
                  <a:pt x="2656114" y="1254034"/>
                </a:cubicBezTo>
                <a:cubicBezTo>
                  <a:pt x="2720074" y="1236978"/>
                  <a:pt x="2785722" y="1225026"/>
                  <a:pt x="2847702" y="1201783"/>
                </a:cubicBezTo>
                <a:cubicBezTo>
                  <a:pt x="2870925" y="1193074"/>
                  <a:pt x="2894574" y="1185427"/>
                  <a:pt x="2917371" y="1175657"/>
                </a:cubicBezTo>
                <a:cubicBezTo>
                  <a:pt x="2935269" y="1167986"/>
                  <a:pt x="2951941" y="1157691"/>
                  <a:pt x="2969622" y="1149531"/>
                </a:cubicBezTo>
                <a:cubicBezTo>
                  <a:pt x="3026410" y="1123321"/>
                  <a:pt x="3133474" y="1082167"/>
                  <a:pt x="3178628" y="1071154"/>
                </a:cubicBezTo>
                <a:cubicBezTo>
                  <a:pt x="3247246" y="1054418"/>
                  <a:pt x="3317965" y="1047931"/>
                  <a:pt x="3387634" y="1036320"/>
                </a:cubicBezTo>
                <a:cubicBezTo>
                  <a:pt x="3495040" y="1001486"/>
                  <a:pt x="3601057" y="962038"/>
                  <a:pt x="3709851" y="931817"/>
                </a:cubicBezTo>
                <a:lnTo>
                  <a:pt x="3866605" y="888274"/>
                </a:lnTo>
                <a:cubicBezTo>
                  <a:pt x="3904523" y="877266"/>
                  <a:pt x="3941853" y="864287"/>
                  <a:pt x="3979817" y="853440"/>
                </a:cubicBezTo>
                <a:cubicBezTo>
                  <a:pt x="4043465" y="835255"/>
                  <a:pt x="4107923" y="819944"/>
                  <a:pt x="4171405" y="801188"/>
                </a:cubicBezTo>
                <a:cubicBezTo>
                  <a:pt x="4235676" y="782199"/>
                  <a:pt x="4299572" y="761884"/>
                  <a:pt x="4362994" y="740228"/>
                </a:cubicBezTo>
                <a:cubicBezTo>
                  <a:pt x="4418619" y="721234"/>
                  <a:pt x="4472354" y="696800"/>
                  <a:pt x="4528457" y="679268"/>
                </a:cubicBezTo>
                <a:cubicBezTo>
                  <a:pt x="4565423" y="667716"/>
                  <a:pt x="4604630" y="664460"/>
                  <a:pt x="4641668" y="653143"/>
                </a:cubicBezTo>
                <a:cubicBezTo>
                  <a:pt x="4709272" y="632486"/>
                  <a:pt x="4773603" y="601464"/>
                  <a:pt x="4841965" y="583474"/>
                </a:cubicBezTo>
                <a:cubicBezTo>
                  <a:pt x="4939415" y="557829"/>
                  <a:pt x="5040357" y="547186"/>
                  <a:pt x="5138057" y="522514"/>
                </a:cubicBezTo>
                <a:cubicBezTo>
                  <a:pt x="5327885" y="474578"/>
                  <a:pt x="5515360" y="417764"/>
                  <a:pt x="5704114" y="365760"/>
                </a:cubicBezTo>
                <a:cubicBezTo>
                  <a:pt x="5799840" y="339386"/>
                  <a:pt x="5901899" y="330176"/>
                  <a:pt x="5991497" y="287383"/>
                </a:cubicBezTo>
                <a:cubicBezTo>
                  <a:pt x="6583254" y="4752"/>
                  <a:pt x="6370494" y="76862"/>
                  <a:pt x="6601097" y="0"/>
                </a:cubicBezTo>
              </a:path>
            </a:pathLst>
          </a:cu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>
              <a:ln>
                <a:solidFill>
                  <a:srgbClr val="FFFF00"/>
                </a:solidFill>
              </a:ln>
            </a:endParaRP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50DD05CC-F6FD-4610-BC0A-3128029BC053}"/>
              </a:ext>
            </a:extLst>
          </p:cNvPr>
          <p:cNvSpPr txBox="1"/>
          <p:nvPr/>
        </p:nvSpPr>
        <p:spPr>
          <a:xfrm>
            <a:off x="6430045" y="2392900"/>
            <a:ext cx="1632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aproximada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BFAF8424-2668-4F00-8205-D6347F950447}"/>
              </a:ext>
            </a:extLst>
          </p:cNvPr>
          <p:cNvSpPr txBox="1"/>
          <p:nvPr/>
        </p:nvSpPr>
        <p:spPr>
          <a:xfrm>
            <a:off x="8812691" y="2284083"/>
            <a:ext cx="1632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exacta</a:t>
            </a:r>
          </a:p>
        </p:txBody>
      </p: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E6EEB562-1E4C-41C1-A30B-4B1336D19EAA}"/>
              </a:ext>
            </a:extLst>
          </p:cNvPr>
          <p:cNvCxnSpPr>
            <a:cxnSpLocks/>
          </p:cNvCxnSpPr>
          <p:nvPr/>
        </p:nvCxnSpPr>
        <p:spPr>
          <a:xfrm>
            <a:off x="5803058" y="3047889"/>
            <a:ext cx="5559" cy="575306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7746033E-55A9-450E-B568-1B48FC8FFFCE}"/>
              </a:ext>
            </a:extLst>
          </p:cNvPr>
          <p:cNvCxnSpPr>
            <a:cxnSpLocks/>
          </p:cNvCxnSpPr>
          <p:nvPr/>
        </p:nvCxnSpPr>
        <p:spPr>
          <a:xfrm>
            <a:off x="6670142" y="2819784"/>
            <a:ext cx="5559" cy="575306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7A01E331-207D-423E-A14D-9893EE30B55B}"/>
              </a:ext>
            </a:extLst>
          </p:cNvPr>
          <p:cNvCxnSpPr>
            <a:cxnSpLocks/>
          </p:cNvCxnSpPr>
          <p:nvPr/>
        </p:nvCxnSpPr>
        <p:spPr>
          <a:xfrm flipH="1">
            <a:off x="3635697" y="4143432"/>
            <a:ext cx="8054" cy="225004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B363A555-B040-4960-A627-3737918B5718}"/>
              </a:ext>
            </a:extLst>
          </p:cNvPr>
          <p:cNvCxnSpPr>
            <a:cxnSpLocks/>
          </p:cNvCxnSpPr>
          <p:nvPr/>
        </p:nvCxnSpPr>
        <p:spPr>
          <a:xfrm>
            <a:off x="8951206" y="3601815"/>
            <a:ext cx="5559" cy="575306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CuadroTexto 78">
            <a:extLst>
              <a:ext uri="{FF2B5EF4-FFF2-40B4-BE49-F238E27FC236}">
                <a16:creationId xmlns:a16="http://schemas.microsoft.com/office/drawing/2014/main" id="{F61D57D5-F82D-4A27-AA7A-23E0D73AA94C}"/>
              </a:ext>
            </a:extLst>
          </p:cNvPr>
          <p:cNvSpPr txBox="1"/>
          <p:nvPr/>
        </p:nvSpPr>
        <p:spPr>
          <a:xfrm>
            <a:off x="8989016" y="3704802"/>
            <a:ext cx="2866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Errores      </a:t>
            </a:r>
            <a:r>
              <a:rPr lang="es-ES" dirty="0" err="1">
                <a:solidFill>
                  <a:schemeClr val="bg1"/>
                </a:solidFill>
              </a:rPr>
              <a:t>ef</a:t>
            </a:r>
            <a:r>
              <a:rPr lang="es-ES" dirty="0">
                <a:solidFill>
                  <a:schemeClr val="bg1"/>
                </a:solidFill>
              </a:rPr>
              <a:t>=</a:t>
            </a:r>
            <a:r>
              <a:rPr lang="es-ES" sz="1600" dirty="0">
                <a:solidFill>
                  <a:schemeClr val="bg1"/>
                </a:solidFill>
              </a:rPr>
              <a:t>y</a:t>
            </a:r>
            <a:r>
              <a:rPr lang="es-ES" sz="1100" dirty="0">
                <a:solidFill>
                  <a:schemeClr val="bg1"/>
                </a:solidFill>
              </a:rPr>
              <a:t>n+</a:t>
            </a:r>
            <a:r>
              <a:rPr lang="es-ES" sz="1200" dirty="0">
                <a:solidFill>
                  <a:schemeClr val="bg1"/>
                </a:solidFill>
              </a:rPr>
              <a:t>1</a:t>
            </a:r>
            <a:r>
              <a:rPr lang="es-ES" dirty="0">
                <a:solidFill>
                  <a:schemeClr val="bg1"/>
                </a:solidFill>
              </a:rPr>
              <a:t> - </a:t>
            </a:r>
            <a:r>
              <a:rPr lang="es-ES" dirty="0" err="1">
                <a:solidFill>
                  <a:schemeClr val="bg1"/>
                </a:solidFill>
              </a:rPr>
              <a:t>y</a:t>
            </a:r>
            <a:r>
              <a:rPr lang="es-ES" sz="1600" dirty="0" err="1">
                <a:solidFill>
                  <a:schemeClr val="bg1"/>
                </a:solidFill>
              </a:rPr>
              <a:t>n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64FD59A7-D86A-45E3-8DDC-8EB08ABDF3F9}"/>
              </a:ext>
            </a:extLst>
          </p:cNvPr>
          <p:cNvSpPr txBox="1"/>
          <p:nvPr/>
        </p:nvSpPr>
        <p:spPr>
          <a:xfrm>
            <a:off x="3008782" y="6025190"/>
            <a:ext cx="1632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Y(x1)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83A0D654-26F8-4C74-8F12-41E5A8AEA3F7}"/>
              </a:ext>
            </a:extLst>
          </p:cNvPr>
          <p:cNvSpPr txBox="1"/>
          <p:nvPr/>
        </p:nvSpPr>
        <p:spPr>
          <a:xfrm>
            <a:off x="3715959" y="6135492"/>
            <a:ext cx="1632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Y(x2)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ED23C553-25BB-414B-8C0D-32AF273DA9AA}"/>
              </a:ext>
            </a:extLst>
          </p:cNvPr>
          <p:cNvSpPr txBox="1"/>
          <p:nvPr/>
        </p:nvSpPr>
        <p:spPr>
          <a:xfrm>
            <a:off x="4450636" y="6177369"/>
            <a:ext cx="1632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Y(x3)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75900019-49C9-448C-8105-C9CC38613753}"/>
              </a:ext>
            </a:extLst>
          </p:cNvPr>
          <p:cNvSpPr txBox="1"/>
          <p:nvPr/>
        </p:nvSpPr>
        <p:spPr>
          <a:xfrm>
            <a:off x="6840814" y="6034641"/>
            <a:ext cx="1632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Y(x6)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E067ACFD-DB70-443E-B673-BC45211E5755}"/>
              </a:ext>
            </a:extLst>
          </p:cNvPr>
          <p:cNvSpPr txBox="1"/>
          <p:nvPr/>
        </p:nvSpPr>
        <p:spPr>
          <a:xfrm>
            <a:off x="186775" y="2508620"/>
            <a:ext cx="6156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 err="1">
                <a:solidFill>
                  <a:schemeClr val="bg1"/>
                </a:solidFill>
              </a:rPr>
              <a:t>Tecnica</a:t>
            </a:r>
            <a:r>
              <a:rPr lang="es-ES" sz="1800" dirty="0">
                <a:solidFill>
                  <a:schemeClr val="bg1"/>
                </a:solidFill>
              </a:rPr>
              <a:t>:</a:t>
            </a:r>
            <a:endParaRPr lang="es-PE" dirty="0"/>
          </a:p>
        </p:txBody>
      </p:sp>
      <p:cxnSp>
        <p:nvCxnSpPr>
          <p:cNvPr id="87" name="Conector: curvado 86">
            <a:extLst>
              <a:ext uri="{FF2B5EF4-FFF2-40B4-BE49-F238E27FC236}">
                <a16:creationId xmlns:a16="http://schemas.microsoft.com/office/drawing/2014/main" id="{6B8AD921-F716-4C07-BCD7-EFA48995D645}"/>
              </a:ext>
            </a:extLst>
          </p:cNvPr>
          <p:cNvCxnSpPr/>
          <p:nvPr/>
        </p:nvCxnSpPr>
        <p:spPr>
          <a:xfrm rot="10800000">
            <a:off x="2675732" y="5765074"/>
            <a:ext cx="498531" cy="111464"/>
          </a:xfrm>
          <a:prstGeom prst="curvedConnector3">
            <a:avLst>
              <a:gd name="adj1" fmla="val 982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: curvado 89">
            <a:extLst>
              <a:ext uri="{FF2B5EF4-FFF2-40B4-BE49-F238E27FC236}">
                <a16:creationId xmlns:a16="http://schemas.microsoft.com/office/drawing/2014/main" id="{1E8F8936-B8E8-45C8-BB2E-17DF1AC08BDF}"/>
              </a:ext>
            </a:extLst>
          </p:cNvPr>
          <p:cNvCxnSpPr/>
          <p:nvPr/>
        </p:nvCxnSpPr>
        <p:spPr>
          <a:xfrm rot="10800000">
            <a:off x="3353108" y="5726187"/>
            <a:ext cx="498531" cy="111464"/>
          </a:xfrm>
          <a:prstGeom prst="curvedConnector3">
            <a:avLst>
              <a:gd name="adj1" fmla="val 982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: curvado 90">
            <a:extLst>
              <a:ext uri="{FF2B5EF4-FFF2-40B4-BE49-F238E27FC236}">
                <a16:creationId xmlns:a16="http://schemas.microsoft.com/office/drawing/2014/main" id="{66C8B3DB-A8E6-4E50-8D04-D58C59428BFB}"/>
              </a:ext>
            </a:extLst>
          </p:cNvPr>
          <p:cNvCxnSpPr/>
          <p:nvPr/>
        </p:nvCxnSpPr>
        <p:spPr>
          <a:xfrm rot="10800000">
            <a:off x="4201370" y="5813303"/>
            <a:ext cx="498531" cy="111464"/>
          </a:xfrm>
          <a:prstGeom prst="curvedConnector3">
            <a:avLst>
              <a:gd name="adj1" fmla="val 982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: curvado 91">
            <a:extLst>
              <a:ext uri="{FF2B5EF4-FFF2-40B4-BE49-F238E27FC236}">
                <a16:creationId xmlns:a16="http://schemas.microsoft.com/office/drawing/2014/main" id="{D8D0F080-6D64-4029-A483-973BDB2E9897}"/>
              </a:ext>
            </a:extLst>
          </p:cNvPr>
          <p:cNvCxnSpPr/>
          <p:nvPr/>
        </p:nvCxnSpPr>
        <p:spPr>
          <a:xfrm rot="10800000">
            <a:off x="6536945" y="5812680"/>
            <a:ext cx="498531" cy="111464"/>
          </a:xfrm>
          <a:prstGeom prst="curvedConnector3">
            <a:avLst>
              <a:gd name="adj1" fmla="val 982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043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22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5462"/>
            <a:ext cx="12192000" cy="700115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8892F20-52FA-4E54-AD1C-308BE9292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848" y="552541"/>
            <a:ext cx="7242969" cy="615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79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23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5462"/>
            <a:ext cx="12192000" cy="700115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FFB4B15-08DF-4889-AC2E-0EA299D1D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33" y="-93885"/>
            <a:ext cx="6091223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85B4BEE-7A18-4429-AFD7-7F6B000F3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041" y="-93885"/>
            <a:ext cx="53704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732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24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5462"/>
            <a:ext cx="12192000" cy="700115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D9E6FC4-121B-49F6-9078-85164DB0D486}"/>
              </a:ext>
            </a:extLst>
          </p:cNvPr>
          <p:cNvSpPr txBox="1"/>
          <p:nvPr/>
        </p:nvSpPr>
        <p:spPr>
          <a:xfrm>
            <a:off x="1267098" y="-309771"/>
            <a:ext cx="7736540" cy="1200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PE" dirty="0"/>
          </a:p>
          <a:p>
            <a:r>
              <a:rPr lang="es-PE" dirty="0" err="1">
                <a:solidFill>
                  <a:schemeClr val="bg1"/>
                </a:solidFill>
              </a:rPr>
              <a:t>import</a:t>
            </a:r>
            <a:r>
              <a:rPr lang="es-PE" dirty="0">
                <a:solidFill>
                  <a:schemeClr val="bg1"/>
                </a:solidFill>
              </a:rPr>
              <a:t> </a:t>
            </a:r>
            <a:r>
              <a:rPr lang="es-PE" dirty="0" err="1">
                <a:solidFill>
                  <a:schemeClr val="bg1"/>
                </a:solidFill>
              </a:rPr>
              <a:t>numpy</a:t>
            </a:r>
            <a:r>
              <a:rPr lang="es-PE" dirty="0">
                <a:solidFill>
                  <a:schemeClr val="bg1"/>
                </a:solidFill>
              </a:rPr>
              <a:t> as </a:t>
            </a:r>
            <a:r>
              <a:rPr lang="es-PE" dirty="0" err="1">
                <a:solidFill>
                  <a:schemeClr val="bg1"/>
                </a:solidFill>
              </a:rPr>
              <a:t>np</a:t>
            </a:r>
            <a:endParaRPr lang="es-PE" dirty="0">
              <a:solidFill>
                <a:schemeClr val="bg1"/>
              </a:solidFill>
            </a:endParaRPr>
          </a:p>
          <a:p>
            <a:r>
              <a:rPr lang="es-PE" dirty="0" err="1">
                <a:solidFill>
                  <a:schemeClr val="bg1"/>
                </a:solidFill>
              </a:rPr>
              <a:t>import</a:t>
            </a:r>
            <a:r>
              <a:rPr lang="es-PE" dirty="0">
                <a:solidFill>
                  <a:schemeClr val="bg1"/>
                </a:solidFill>
              </a:rPr>
              <a:t> </a:t>
            </a:r>
            <a:r>
              <a:rPr lang="es-PE" dirty="0" err="1">
                <a:solidFill>
                  <a:schemeClr val="bg1"/>
                </a:solidFill>
              </a:rPr>
              <a:t>matplotlib.pyplot</a:t>
            </a:r>
            <a:r>
              <a:rPr lang="es-PE" dirty="0">
                <a:solidFill>
                  <a:schemeClr val="bg1"/>
                </a:solidFill>
              </a:rPr>
              <a:t> as </a:t>
            </a:r>
            <a:r>
              <a:rPr lang="es-PE" dirty="0" err="1">
                <a:solidFill>
                  <a:schemeClr val="bg1"/>
                </a:solidFill>
              </a:rPr>
              <a:t>plt</a:t>
            </a:r>
            <a:endParaRPr lang="es-PE" dirty="0">
              <a:solidFill>
                <a:schemeClr val="bg1"/>
              </a:solidFill>
            </a:endParaRPr>
          </a:p>
          <a:p>
            <a:r>
              <a:rPr lang="es-PE" dirty="0" err="1">
                <a:solidFill>
                  <a:schemeClr val="bg1"/>
                </a:solidFill>
              </a:rPr>
              <a:t>def</a:t>
            </a:r>
            <a:r>
              <a:rPr lang="es-PE" dirty="0">
                <a:solidFill>
                  <a:schemeClr val="bg1"/>
                </a:solidFill>
              </a:rPr>
              <a:t> </a:t>
            </a:r>
            <a:r>
              <a:rPr lang="es-PE" dirty="0" err="1">
                <a:solidFill>
                  <a:schemeClr val="bg1"/>
                </a:solidFill>
              </a:rPr>
              <a:t>euler</a:t>
            </a:r>
            <a:r>
              <a:rPr lang="es-PE" dirty="0">
                <a:solidFill>
                  <a:schemeClr val="bg1"/>
                </a:solidFill>
              </a:rPr>
              <a:t>(f, x0, y0, h, n):</a:t>
            </a:r>
          </a:p>
          <a:p>
            <a:r>
              <a:rPr lang="es-PE" dirty="0">
                <a:solidFill>
                  <a:schemeClr val="bg1"/>
                </a:solidFill>
              </a:rPr>
              <a:t>    x = x0</a:t>
            </a:r>
          </a:p>
          <a:p>
            <a:r>
              <a:rPr lang="es-PE" dirty="0">
                <a:solidFill>
                  <a:schemeClr val="bg1"/>
                </a:solidFill>
              </a:rPr>
              <a:t>    y = y0</a:t>
            </a:r>
          </a:p>
          <a:p>
            <a:r>
              <a:rPr lang="es-PE" dirty="0">
                <a:solidFill>
                  <a:schemeClr val="bg1"/>
                </a:solidFill>
              </a:rPr>
              <a:t>    iterar = [(x, y)]</a:t>
            </a:r>
          </a:p>
          <a:p>
            <a:r>
              <a:rPr lang="es-PE" dirty="0">
                <a:solidFill>
                  <a:schemeClr val="bg1"/>
                </a:solidFill>
              </a:rPr>
              <a:t>    </a:t>
            </a:r>
            <a:r>
              <a:rPr lang="es-PE" dirty="0" err="1">
                <a:solidFill>
                  <a:schemeClr val="bg1"/>
                </a:solidFill>
              </a:rPr>
              <a:t>for</a:t>
            </a:r>
            <a:r>
              <a:rPr lang="es-PE" dirty="0">
                <a:solidFill>
                  <a:schemeClr val="bg1"/>
                </a:solidFill>
              </a:rPr>
              <a:t> _ in </a:t>
            </a:r>
            <a:r>
              <a:rPr lang="es-PE" dirty="0" err="1">
                <a:solidFill>
                  <a:schemeClr val="bg1"/>
                </a:solidFill>
              </a:rPr>
              <a:t>range</a:t>
            </a:r>
            <a:r>
              <a:rPr lang="es-PE" dirty="0">
                <a:solidFill>
                  <a:schemeClr val="bg1"/>
                </a:solidFill>
              </a:rPr>
              <a:t>(n):</a:t>
            </a:r>
          </a:p>
          <a:p>
            <a:r>
              <a:rPr lang="es-PE" dirty="0">
                <a:solidFill>
                  <a:schemeClr val="bg1"/>
                </a:solidFill>
              </a:rPr>
              <a:t>        y = y + h * f(x, y)</a:t>
            </a:r>
          </a:p>
          <a:p>
            <a:r>
              <a:rPr lang="es-PE" dirty="0">
                <a:solidFill>
                  <a:schemeClr val="bg1"/>
                </a:solidFill>
              </a:rPr>
              <a:t>        x = x + h</a:t>
            </a:r>
          </a:p>
          <a:p>
            <a:r>
              <a:rPr lang="es-PE" dirty="0">
                <a:solidFill>
                  <a:schemeClr val="bg1"/>
                </a:solidFill>
              </a:rPr>
              <a:t>        </a:t>
            </a:r>
            <a:r>
              <a:rPr lang="es-PE" dirty="0" err="1">
                <a:solidFill>
                  <a:schemeClr val="bg1"/>
                </a:solidFill>
              </a:rPr>
              <a:t>iterar.append</a:t>
            </a:r>
            <a:r>
              <a:rPr lang="es-PE" dirty="0">
                <a:solidFill>
                  <a:schemeClr val="bg1"/>
                </a:solidFill>
              </a:rPr>
              <a:t>((x, y))</a:t>
            </a:r>
          </a:p>
          <a:p>
            <a:r>
              <a:rPr lang="es-PE" dirty="0">
                <a:solidFill>
                  <a:schemeClr val="bg1"/>
                </a:solidFill>
              </a:rPr>
              <a:t>    </a:t>
            </a:r>
            <a:r>
              <a:rPr lang="es-PE" dirty="0" err="1">
                <a:solidFill>
                  <a:schemeClr val="bg1"/>
                </a:solidFill>
              </a:rPr>
              <a:t>return</a:t>
            </a:r>
            <a:r>
              <a:rPr lang="es-PE" dirty="0">
                <a:solidFill>
                  <a:schemeClr val="bg1"/>
                </a:solidFill>
              </a:rPr>
              <a:t> iterar</a:t>
            </a:r>
          </a:p>
          <a:p>
            <a:r>
              <a:rPr lang="es-PE" dirty="0">
                <a:solidFill>
                  <a:schemeClr val="bg1"/>
                </a:solidFill>
              </a:rPr>
              <a:t># defino </a:t>
            </a:r>
            <a:r>
              <a:rPr lang="es-PE" dirty="0" err="1">
                <a:solidFill>
                  <a:schemeClr val="bg1"/>
                </a:solidFill>
              </a:rPr>
              <a:t>funcion</a:t>
            </a:r>
            <a:endParaRPr lang="es-PE" dirty="0">
              <a:solidFill>
                <a:schemeClr val="bg1"/>
              </a:solidFill>
            </a:endParaRPr>
          </a:p>
          <a:p>
            <a:endParaRPr lang="es-PE" dirty="0">
              <a:solidFill>
                <a:schemeClr val="bg1"/>
              </a:solidFill>
            </a:endParaRPr>
          </a:p>
          <a:p>
            <a:r>
              <a:rPr lang="es-PE" dirty="0" err="1">
                <a:solidFill>
                  <a:schemeClr val="bg1"/>
                </a:solidFill>
              </a:rPr>
              <a:t>def</a:t>
            </a:r>
            <a:r>
              <a:rPr lang="es-PE" dirty="0">
                <a:solidFill>
                  <a:schemeClr val="bg1"/>
                </a:solidFill>
              </a:rPr>
              <a:t> f(x, y):</a:t>
            </a:r>
          </a:p>
          <a:p>
            <a:r>
              <a:rPr lang="es-PE" dirty="0">
                <a:solidFill>
                  <a:schemeClr val="bg1"/>
                </a:solidFill>
              </a:rPr>
              <a:t>    </a:t>
            </a:r>
            <a:r>
              <a:rPr lang="es-PE" dirty="0" err="1">
                <a:solidFill>
                  <a:schemeClr val="bg1"/>
                </a:solidFill>
              </a:rPr>
              <a:t>return</a:t>
            </a:r>
            <a:r>
              <a:rPr lang="es-PE" dirty="0">
                <a:solidFill>
                  <a:schemeClr val="bg1"/>
                </a:solidFill>
              </a:rPr>
              <a:t> x + 2 * y</a:t>
            </a:r>
          </a:p>
          <a:p>
            <a:r>
              <a:rPr lang="es-PE" dirty="0">
                <a:solidFill>
                  <a:schemeClr val="bg1"/>
                </a:solidFill>
              </a:rPr>
              <a:t>x0 = 0; y0 = 1; h = 0.05</a:t>
            </a:r>
          </a:p>
          <a:p>
            <a:r>
              <a:rPr lang="es-PE" dirty="0">
                <a:solidFill>
                  <a:schemeClr val="bg1"/>
                </a:solidFill>
              </a:rPr>
              <a:t>n =50  # Calcular </a:t>
            </a:r>
            <a:r>
              <a:rPr lang="es-PE" dirty="0" err="1">
                <a:solidFill>
                  <a:schemeClr val="bg1"/>
                </a:solidFill>
              </a:rPr>
              <a:t>integracion</a:t>
            </a:r>
            <a:r>
              <a:rPr lang="es-PE" dirty="0">
                <a:solidFill>
                  <a:schemeClr val="bg1"/>
                </a:solidFill>
              </a:rPr>
              <a:t> </a:t>
            </a:r>
            <a:r>
              <a:rPr lang="es-PE" dirty="0" err="1">
                <a:solidFill>
                  <a:schemeClr val="bg1"/>
                </a:solidFill>
              </a:rPr>
              <a:t>numeica</a:t>
            </a:r>
            <a:r>
              <a:rPr lang="es-PE" dirty="0">
                <a:solidFill>
                  <a:schemeClr val="bg1"/>
                </a:solidFill>
              </a:rPr>
              <a:t> </a:t>
            </a:r>
          </a:p>
          <a:p>
            <a:r>
              <a:rPr lang="es-PE" dirty="0">
                <a:solidFill>
                  <a:schemeClr val="bg1"/>
                </a:solidFill>
              </a:rPr>
              <a:t>iterar = </a:t>
            </a:r>
            <a:r>
              <a:rPr lang="es-PE" dirty="0" err="1">
                <a:solidFill>
                  <a:schemeClr val="bg1"/>
                </a:solidFill>
              </a:rPr>
              <a:t>euler</a:t>
            </a:r>
            <a:r>
              <a:rPr lang="es-PE" dirty="0">
                <a:solidFill>
                  <a:schemeClr val="bg1"/>
                </a:solidFill>
              </a:rPr>
              <a:t>(f, x0, y0, h, n)</a:t>
            </a:r>
          </a:p>
          <a:p>
            <a:r>
              <a:rPr lang="es-PE" dirty="0">
                <a:solidFill>
                  <a:schemeClr val="bg1"/>
                </a:solidFill>
              </a:rPr>
              <a:t># Imprimir los resultados</a:t>
            </a:r>
          </a:p>
          <a:p>
            <a:r>
              <a:rPr lang="es-PE" dirty="0">
                <a:solidFill>
                  <a:schemeClr val="bg1"/>
                </a:solidFill>
              </a:rPr>
              <a:t>i=0</a:t>
            </a:r>
          </a:p>
          <a:p>
            <a:r>
              <a:rPr lang="es-PE" dirty="0" err="1">
                <a:solidFill>
                  <a:schemeClr val="bg1"/>
                </a:solidFill>
              </a:rPr>
              <a:t>for</a:t>
            </a:r>
            <a:r>
              <a:rPr lang="es-PE" dirty="0">
                <a:solidFill>
                  <a:schemeClr val="bg1"/>
                </a:solidFill>
              </a:rPr>
              <a:t> x, y in iterar:</a:t>
            </a:r>
          </a:p>
          <a:p>
            <a:r>
              <a:rPr lang="es-PE" dirty="0">
                <a:solidFill>
                  <a:schemeClr val="bg1"/>
                </a:solidFill>
              </a:rPr>
              <a:t>    i=i+1</a:t>
            </a:r>
          </a:p>
          <a:p>
            <a:r>
              <a:rPr lang="es-PE" dirty="0">
                <a:solidFill>
                  <a:schemeClr val="bg1"/>
                </a:solidFill>
              </a:rPr>
              <a:t>    </a:t>
            </a:r>
            <a:r>
              <a:rPr lang="es-PE" dirty="0" err="1">
                <a:solidFill>
                  <a:schemeClr val="bg1"/>
                </a:solidFill>
              </a:rPr>
              <a:t>print</a:t>
            </a:r>
            <a:r>
              <a:rPr lang="es-PE" dirty="0">
                <a:solidFill>
                  <a:schemeClr val="bg1"/>
                </a:solidFill>
              </a:rPr>
              <a:t>(i,".- ",</a:t>
            </a:r>
            <a:r>
              <a:rPr lang="es-PE" dirty="0" err="1">
                <a:solidFill>
                  <a:schemeClr val="bg1"/>
                </a:solidFill>
              </a:rPr>
              <a:t>f"x</a:t>
            </a:r>
            <a:r>
              <a:rPr lang="es-PE" dirty="0">
                <a:solidFill>
                  <a:schemeClr val="bg1"/>
                </a:solidFill>
              </a:rPr>
              <a:t> = {x}, y = {y}")</a:t>
            </a:r>
          </a:p>
          <a:p>
            <a:r>
              <a:rPr lang="es-PE" dirty="0">
                <a:solidFill>
                  <a:schemeClr val="bg1"/>
                </a:solidFill>
              </a:rPr>
              <a:t># También se puede graficar la solución</a:t>
            </a:r>
          </a:p>
          <a:p>
            <a:endParaRPr lang="es-PE" dirty="0"/>
          </a:p>
          <a:p>
            <a:endParaRPr lang="es-PE" dirty="0"/>
          </a:p>
          <a:p>
            <a:r>
              <a:rPr lang="es-PE" dirty="0"/>
              <a:t>x = [punto[0] </a:t>
            </a:r>
            <a:r>
              <a:rPr lang="es-PE" dirty="0" err="1"/>
              <a:t>for</a:t>
            </a:r>
            <a:r>
              <a:rPr lang="es-PE" dirty="0"/>
              <a:t> punto in iterar]</a:t>
            </a:r>
          </a:p>
          <a:p>
            <a:r>
              <a:rPr lang="es-PE" dirty="0"/>
              <a:t>y = [punto[1] </a:t>
            </a:r>
            <a:r>
              <a:rPr lang="es-PE" dirty="0" err="1"/>
              <a:t>for</a:t>
            </a:r>
            <a:r>
              <a:rPr lang="es-PE" dirty="0"/>
              <a:t> punto in iterar]</a:t>
            </a:r>
          </a:p>
          <a:p>
            <a:r>
              <a:rPr lang="es-PE" dirty="0" err="1"/>
              <a:t>plt.plot</a:t>
            </a:r>
            <a:r>
              <a:rPr lang="es-PE" dirty="0"/>
              <a:t>(x, y, </a:t>
            </a:r>
            <a:r>
              <a:rPr lang="es-PE" dirty="0" err="1"/>
              <a:t>marker</a:t>
            </a:r>
            <a:r>
              <a:rPr lang="es-PE" dirty="0"/>
              <a:t>='*', </a:t>
            </a:r>
            <a:r>
              <a:rPr lang="es-PE" dirty="0" err="1"/>
              <a:t>label</a:t>
            </a:r>
            <a:r>
              <a:rPr lang="es-PE" dirty="0"/>
              <a:t>='Comportamiento de la </a:t>
            </a:r>
            <a:r>
              <a:rPr lang="es-PE" dirty="0" err="1"/>
              <a:t>funcion</a:t>
            </a:r>
            <a:r>
              <a:rPr lang="es-PE" dirty="0"/>
              <a:t> ')</a:t>
            </a:r>
          </a:p>
          <a:p>
            <a:endParaRPr lang="es-PE" dirty="0"/>
          </a:p>
          <a:p>
            <a:r>
              <a:rPr lang="es-PE" dirty="0" err="1"/>
              <a:t>plt.plot</a:t>
            </a:r>
            <a:r>
              <a:rPr lang="es-PE" dirty="0"/>
              <a:t>(x, y)</a:t>
            </a:r>
          </a:p>
          <a:p>
            <a:r>
              <a:rPr lang="es-PE" dirty="0" err="1"/>
              <a:t>plt.xlabel</a:t>
            </a:r>
            <a:r>
              <a:rPr lang="es-PE" dirty="0"/>
              <a:t>("x")</a:t>
            </a:r>
          </a:p>
          <a:p>
            <a:r>
              <a:rPr lang="es-PE" dirty="0" err="1"/>
              <a:t>plt.ylabel</a:t>
            </a:r>
            <a:r>
              <a:rPr lang="es-PE" dirty="0"/>
              <a:t>("y")</a:t>
            </a:r>
          </a:p>
          <a:p>
            <a:endParaRPr lang="es-PE" dirty="0"/>
          </a:p>
          <a:p>
            <a:r>
              <a:rPr lang="es-PE" dirty="0" err="1"/>
              <a:t>plt.title</a:t>
            </a:r>
            <a:r>
              <a:rPr lang="es-PE" dirty="0"/>
              <a:t>('Solución </a:t>
            </a:r>
            <a:r>
              <a:rPr lang="es-PE" dirty="0" err="1"/>
              <a:t>numérica:Euación</a:t>
            </a:r>
            <a:r>
              <a:rPr lang="es-PE" dirty="0"/>
              <a:t> Diferencial')</a:t>
            </a:r>
          </a:p>
          <a:p>
            <a:r>
              <a:rPr lang="es-PE" dirty="0" err="1"/>
              <a:t>plt.legend</a:t>
            </a:r>
            <a:r>
              <a:rPr lang="es-PE" dirty="0"/>
              <a:t>()</a:t>
            </a:r>
          </a:p>
          <a:p>
            <a:r>
              <a:rPr lang="es-PE" dirty="0" err="1"/>
              <a:t>plt.grid</a:t>
            </a:r>
            <a:r>
              <a:rPr lang="es-PE" dirty="0"/>
              <a:t>(True)</a:t>
            </a:r>
          </a:p>
          <a:p>
            <a:r>
              <a:rPr lang="es-PE" dirty="0" err="1"/>
              <a:t>plt.show</a:t>
            </a:r>
            <a:r>
              <a:rPr lang="es-PE" dirty="0"/>
              <a:t>()</a:t>
            </a:r>
          </a:p>
          <a:p>
            <a:endParaRPr lang="es-PE" dirty="0"/>
          </a:p>
          <a:p>
            <a:endParaRPr lang="es-PE" dirty="0"/>
          </a:p>
          <a:p>
            <a:endParaRPr lang="es-PE" dirty="0"/>
          </a:p>
          <a:p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2039092-DB84-469C-B81D-7B665A0D5093}"/>
              </a:ext>
            </a:extLst>
          </p:cNvPr>
          <p:cNvSpPr/>
          <p:nvPr/>
        </p:nvSpPr>
        <p:spPr>
          <a:xfrm>
            <a:off x="10032520" y="-305531"/>
            <a:ext cx="8707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PF</a:t>
            </a:r>
          </a:p>
        </p:txBody>
      </p:sp>
    </p:spTree>
    <p:extLst>
      <p:ext uri="{BB962C8B-B14F-4D97-AF65-F5344CB8AC3E}">
        <p14:creationId xmlns:p14="http://schemas.microsoft.com/office/powerpoint/2010/main" val="4206697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25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794" y="-279679"/>
            <a:ext cx="12192000" cy="700115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D9E6FC4-121B-49F6-9078-85164DB0D486}"/>
              </a:ext>
            </a:extLst>
          </p:cNvPr>
          <p:cNvSpPr txBox="1"/>
          <p:nvPr/>
        </p:nvSpPr>
        <p:spPr>
          <a:xfrm>
            <a:off x="1267098" y="-309771"/>
            <a:ext cx="7736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PE" dirty="0"/>
          </a:p>
          <a:p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F95003A-61BA-4068-81A8-404809257203}"/>
              </a:ext>
            </a:extLst>
          </p:cNvPr>
          <p:cNvSpPr/>
          <p:nvPr/>
        </p:nvSpPr>
        <p:spPr>
          <a:xfrm>
            <a:off x="792729" y="762108"/>
            <a:ext cx="11172848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Técnica III.- Librería </a:t>
            </a:r>
            <a:r>
              <a:rPr lang="es-ES" sz="5400" b="1" cap="none" spc="0" dirty="0" err="1">
                <a:ln/>
                <a:solidFill>
                  <a:schemeClr val="accent4"/>
                </a:solidFill>
                <a:effectLst/>
              </a:rPr>
              <a:t>PySd</a:t>
            </a:r>
            <a:endParaRPr lang="es-ES" sz="5400" b="1" cap="none" spc="0" dirty="0">
              <a:ln/>
              <a:solidFill>
                <a:schemeClr val="accent4"/>
              </a:solidFill>
              <a:effectLst/>
            </a:endParaRPr>
          </a:p>
          <a:p>
            <a:pPr algn="ctr"/>
            <a:endParaRPr lang="es-ES" sz="5400" b="1" dirty="0">
              <a:ln/>
              <a:solidFill>
                <a:schemeClr val="accent4"/>
              </a:solidFill>
            </a:endParaRPr>
          </a:p>
          <a:p>
            <a:r>
              <a:rPr lang="es-ES" sz="3600" b="1" cap="none" spc="0" dirty="0">
                <a:ln/>
                <a:solidFill>
                  <a:schemeClr val="bg1"/>
                </a:solidFill>
                <a:effectLst/>
              </a:rPr>
              <a:t>Usar nombre de </a:t>
            </a:r>
            <a:r>
              <a:rPr lang="es-ES" sz="3600" b="1" cap="none" spc="0" dirty="0" err="1">
                <a:ln/>
                <a:solidFill>
                  <a:schemeClr val="bg1"/>
                </a:solidFill>
                <a:effectLst/>
              </a:rPr>
              <a:t>dagrama</a:t>
            </a:r>
            <a:r>
              <a:rPr lang="es-ES" sz="3600" b="1" cap="none" spc="0" dirty="0">
                <a:ln/>
                <a:solidFill>
                  <a:schemeClr val="bg1"/>
                </a:solidFill>
                <a:effectLst/>
              </a:rPr>
              <a:t> de </a:t>
            </a:r>
            <a:r>
              <a:rPr lang="es-ES" sz="3600" b="1" cap="none" spc="0" dirty="0" err="1">
                <a:ln/>
                <a:solidFill>
                  <a:schemeClr val="bg1"/>
                </a:solidFill>
                <a:effectLst/>
              </a:rPr>
              <a:t>forrester</a:t>
            </a:r>
            <a:r>
              <a:rPr lang="es-ES" sz="3600" b="1" cap="none" spc="0" dirty="0">
                <a:ln/>
                <a:solidFill>
                  <a:schemeClr val="bg1"/>
                </a:solidFill>
                <a:effectLst/>
              </a:rPr>
              <a:t> </a:t>
            </a:r>
            <a:r>
              <a:rPr lang="es-ES" sz="3600" b="1" dirty="0">
                <a:ln/>
                <a:solidFill>
                  <a:schemeClr val="bg1"/>
                </a:solidFill>
              </a:rPr>
              <a:t>Para ser leído por código Python, donde se debe leer el modelo *.</a:t>
            </a:r>
            <a:r>
              <a:rPr lang="es-ES" sz="3600" b="1" dirty="0" err="1">
                <a:ln/>
                <a:solidFill>
                  <a:schemeClr val="bg1"/>
                </a:solidFill>
              </a:rPr>
              <a:t>xml</a:t>
            </a:r>
            <a:r>
              <a:rPr lang="es-ES" sz="3600" b="1" dirty="0">
                <a:ln/>
                <a:solidFill>
                  <a:schemeClr val="bg1"/>
                </a:solidFill>
              </a:rPr>
              <a:t> para </a:t>
            </a:r>
            <a:r>
              <a:rPr lang="es-ES" sz="3600" b="1" dirty="0" err="1">
                <a:ln/>
                <a:solidFill>
                  <a:schemeClr val="bg1"/>
                </a:solidFill>
              </a:rPr>
              <a:t>qu</a:t>
            </a:r>
            <a:r>
              <a:rPr lang="es-ES" sz="3600" b="1" dirty="0">
                <a:ln/>
                <a:solidFill>
                  <a:schemeClr val="bg1"/>
                </a:solidFill>
              </a:rPr>
              <a:t> se disponga de  columnas para mostrar evolución </a:t>
            </a:r>
            <a:r>
              <a:rPr lang="es-ES" sz="3600" b="1" dirty="0" err="1">
                <a:ln/>
                <a:solidFill>
                  <a:schemeClr val="bg1"/>
                </a:solidFill>
              </a:rPr>
              <a:t>asigara</a:t>
            </a:r>
            <a:r>
              <a:rPr lang="es-ES" sz="3600" b="1" dirty="0">
                <a:ln/>
                <a:solidFill>
                  <a:schemeClr val="bg1"/>
                </a:solidFill>
              </a:rPr>
              <a:t> títulos , leyendas etc.</a:t>
            </a:r>
          </a:p>
          <a:p>
            <a:pPr algn="ctr"/>
            <a:endParaRPr lang="es-ES" sz="3600" b="1" cap="none" spc="0" dirty="0">
              <a:ln/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08024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26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5462"/>
            <a:ext cx="12192000" cy="700115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D9E6FC4-121B-49F6-9078-85164DB0D486}"/>
              </a:ext>
            </a:extLst>
          </p:cNvPr>
          <p:cNvSpPr txBox="1"/>
          <p:nvPr/>
        </p:nvSpPr>
        <p:spPr>
          <a:xfrm>
            <a:off x="1267098" y="-309771"/>
            <a:ext cx="7736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PE" dirty="0"/>
          </a:p>
          <a:p>
            <a:endParaRPr lang="es-PE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F45077D-DAD4-415C-B4B1-DE29477D5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71" y="-45655"/>
            <a:ext cx="10395857" cy="685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58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27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3154"/>
            <a:ext cx="12192000" cy="700115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D9E6FC4-121B-49F6-9078-85164DB0D486}"/>
              </a:ext>
            </a:extLst>
          </p:cNvPr>
          <p:cNvSpPr txBox="1"/>
          <p:nvPr/>
        </p:nvSpPr>
        <p:spPr>
          <a:xfrm>
            <a:off x="1267098" y="-309771"/>
            <a:ext cx="7736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PE" dirty="0"/>
          </a:p>
          <a:p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8575FB6-71D8-4B66-9E39-D5FB01F97A53}"/>
              </a:ext>
            </a:extLst>
          </p:cNvPr>
          <p:cNvSpPr/>
          <p:nvPr/>
        </p:nvSpPr>
        <p:spPr>
          <a:xfrm>
            <a:off x="471906" y="480869"/>
            <a:ext cx="11424172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s-ES" sz="5400" b="1" cap="none" spc="0" dirty="0" err="1">
                <a:ln/>
                <a:solidFill>
                  <a:schemeClr val="accent4"/>
                </a:solidFill>
                <a:effectLst/>
              </a:rPr>
              <a:t>Conclusion</a:t>
            </a:r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.-</a:t>
            </a:r>
            <a:r>
              <a:rPr lang="es-ES" sz="5400" b="1" dirty="0">
                <a:ln/>
                <a:solidFill>
                  <a:schemeClr val="accent4"/>
                </a:solidFill>
              </a:rPr>
              <a:t>Tomar decisión </a:t>
            </a:r>
            <a:r>
              <a:rPr lang="es-ES" sz="5400" b="1" dirty="0" err="1">
                <a:ln/>
                <a:solidFill>
                  <a:schemeClr val="accent4"/>
                </a:solidFill>
              </a:rPr>
              <a:t>tecnicas</a:t>
            </a:r>
            <a:r>
              <a:rPr lang="es-ES" sz="5400" b="1" dirty="0">
                <a:ln/>
                <a:solidFill>
                  <a:schemeClr val="accent4"/>
                </a:solidFill>
              </a:rPr>
              <a:t> :</a:t>
            </a:r>
          </a:p>
          <a:p>
            <a:endParaRPr lang="es-ES" sz="5400" b="1" cap="none" spc="0" dirty="0">
              <a:ln/>
              <a:solidFill>
                <a:schemeClr val="accent4"/>
              </a:solidFill>
              <a:effectLst/>
            </a:endParaRPr>
          </a:p>
          <a:p>
            <a:r>
              <a:rPr lang="es-ES" sz="2800" b="1" dirty="0">
                <a:ln/>
                <a:solidFill>
                  <a:schemeClr val="bg1"/>
                </a:solidFill>
              </a:rPr>
              <a:t>Usar las 2 ultimas iteraciones de cada tabla para y calcular el error </a:t>
            </a:r>
            <a:r>
              <a:rPr lang="es-ES" sz="2800" b="1" dirty="0" err="1">
                <a:ln/>
                <a:solidFill>
                  <a:schemeClr val="bg1"/>
                </a:solidFill>
              </a:rPr>
              <a:t>respectvio</a:t>
            </a:r>
            <a:r>
              <a:rPr lang="es-ES" sz="2800" b="1" dirty="0">
                <a:ln/>
                <a:solidFill>
                  <a:schemeClr val="bg1"/>
                </a:solidFill>
              </a:rPr>
              <a:t> y tomara su mejor </a:t>
            </a:r>
            <a:r>
              <a:rPr lang="es-ES" sz="2800" b="1" dirty="0" err="1">
                <a:ln/>
                <a:solidFill>
                  <a:schemeClr val="bg1"/>
                </a:solidFill>
              </a:rPr>
              <a:t>desicion</a:t>
            </a:r>
            <a:r>
              <a:rPr lang="es-ES" sz="2800" b="1" dirty="0">
                <a:ln/>
                <a:solidFill>
                  <a:schemeClr val="bg1"/>
                </a:solidFill>
              </a:rPr>
              <a:t> para implementar su modelo según su  técnica iterado /simulado  </a:t>
            </a:r>
            <a:endParaRPr lang="es-ES" sz="2800" b="1" cap="none" spc="0" dirty="0">
              <a:ln/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124082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28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5462"/>
            <a:ext cx="12192000" cy="700115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D9E6FC4-121B-49F6-9078-85164DB0D486}"/>
              </a:ext>
            </a:extLst>
          </p:cNvPr>
          <p:cNvSpPr txBox="1"/>
          <p:nvPr/>
        </p:nvSpPr>
        <p:spPr>
          <a:xfrm>
            <a:off x="1267098" y="-309771"/>
            <a:ext cx="7736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PE" dirty="0"/>
          </a:p>
          <a:p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127A4FB-4CB1-49DD-9821-8A4A091C2156}"/>
              </a:ext>
            </a:extLst>
          </p:cNvPr>
          <p:cNvSpPr txBox="1"/>
          <p:nvPr/>
        </p:nvSpPr>
        <p:spPr>
          <a:xfrm>
            <a:off x="624840" y="0"/>
            <a:ext cx="8471263" cy="3412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 err="1"/>
              <a:t>import</a:t>
            </a:r>
            <a:r>
              <a:rPr lang="es-PE" dirty="0"/>
              <a:t> os</a:t>
            </a:r>
          </a:p>
          <a:p>
            <a:r>
              <a:rPr lang="es-PE" dirty="0" err="1"/>
              <a:t>import</a:t>
            </a:r>
            <a:r>
              <a:rPr lang="es-PE" dirty="0"/>
              <a:t> </a:t>
            </a:r>
            <a:r>
              <a:rPr lang="es-PE" dirty="0" err="1"/>
              <a:t>pysd</a:t>
            </a:r>
            <a:endParaRPr lang="es-PE" dirty="0"/>
          </a:p>
          <a:p>
            <a:r>
              <a:rPr lang="es-PE" dirty="0" err="1"/>
              <a:t>import</a:t>
            </a:r>
            <a:r>
              <a:rPr lang="es-PE" dirty="0"/>
              <a:t> </a:t>
            </a:r>
            <a:r>
              <a:rPr lang="es-PE" dirty="0" err="1"/>
              <a:t>matplotlib.pyplot</a:t>
            </a:r>
            <a:r>
              <a:rPr lang="es-PE" dirty="0"/>
              <a:t> as </a:t>
            </a:r>
            <a:r>
              <a:rPr lang="es-PE" dirty="0" err="1"/>
              <a:t>plt</a:t>
            </a:r>
            <a:endParaRPr lang="es-PE" dirty="0"/>
          </a:p>
          <a:p>
            <a:r>
              <a:rPr lang="es-PE" dirty="0" err="1"/>
              <a:t>def</a:t>
            </a:r>
            <a:r>
              <a:rPr lang="es-PE" dirty="0"/>
              <a:t> </a:t>
            </a:r>
            <a:r>
              <a:rPr lang="es-PE" dirty="0" err="1"/>
              <a:t>funcAlmacen</a:t>
            </a:r>
            <a:r>
              <a:rPr lang="es-PE" dirty="0"/>
              <a:t>():</a:t>
            </a:r>
          </a:p>
          <a:p>
            <a:r>
              <a:rPr lang="es-PE" dirty="0"/>
              <a:t>    modelo = </a:t>
            </a:r>
            <a:r>
              <a:rPr lang="es-PE" dirty="0" err="1"/>
              <a:t>pysd.read_vensim</a:t>
            </a:r>
            <a:r>
              <a:rPr lang="es-PE" dirty="0"/>
              <a:t>('</a:t>
            </a:r>
            <a:r>
              <a:rPr lang="es-PE" dirty="0" err="1"/>
              <a:t>Forrester_modelo_cia.mdl</a:t>
            </a:r>
            <a:r>
              <a:rPr lang="es-PE" dirty="0"/>
              <a:t>')</a:t>
            </a:r>
          </a:p>
          <a:p>
            <a:r>
              <a:rPr lang="es-PE" dirty="0"/>
              <a:t>    valores = </a:t>
            </a:r>
            <a:r>
              <a:rPr lang="es-PE" dirty="0" err="1"/>
              <a:t>modelo.run</a:t>
            </a:r>
            <a:r>
              <a:rPr lang="es-PE" dirty="0"/>
              <a:t>(</a:t>
            </a:r>
            <a:r>
              <a:rPr lang="es-PE" dirty="0" err="1"/>
              <a:t>return_columns</a:t>
            </a:r>
            <a:r>
              <a:rPr lang="es-PE" dirty="0"/>
              <a:t> = ['</a:t>
            </a:r>
            <a:r>
              <a:rPr lang="es-PE" dirty="0" err="1"/>
              <a:t>almacen</a:t>
            </a:r>
            <a:r>
              <a:rPr lang="es-PE" dirty="0"/>
              <a:t>'])</a:t>
            </a:r>
          </a:p>
          <a:p>
            <a:r>
              <a:rPr lang="es-PE" dirty="0"/>
              <a:t>    tabla = </a:t>
            </a:r>
            <a:r>
              <a:rPr lang="es-PE" dirty="0" err="1"/>
              <a:t>valores.head</a:t>
            </a:r>
            <a:r>
              <a:rPr lang="es-PE" dirty="0"/>
              <a:t>(6)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(tabla)</a:t>
            </a:r>
          </a:p>
          <a:p>
            <a:r>
              <a:rPr lang="es-PE" dirty="0"/>
              <a:t>    </a:t>
            </a:r>
            <a:r>
              <a:rPr lang="es-PE" dirty="0" err="1"/>
              <a:t>valores.plot</a:t>
            </a:r>
            <a:r>
              <a:rPr lang="es-PE" dirty="0"/>
              <a:t>()</a:t>
            </a:r>
          </a:p>
          <a:p>
            <a:r>
              <a:rPr lang="es-PE" dirty="0"/>
              <a:t>    </a:t>
            </a:r>
            <a:r>
              <a:rPr lang="es-PE" dirty="0" err="1"/>
              <a:t>plt.ylabel</a:t>
            </a:r>
            <a:r>
              <a:rPr lang="es-PE" dirty="0"/>
              <a:t>('Cantidades(millones)')</a:t>
            </a:r>
          </a:p>
          <a:p>
            <a:r>
              <a:rPr lang="es-PE" dirty="0"/>
              <a:t>    </a:t>
            </a:r>
            <a:r>
              <a:rPr lang="es-PE" dirty="0" err="1"/>
              <a:t>plt.xlabel</a:t>
            </a:r>
            <a:r>
              <a:rPr lang="es-PE" dirty="0"/>
              <a:t>('Años')</a:t>
            </a:r>
          </a:p>
          <a:p>
            <a:r>
              <a:rPr lang="es-PE" dirty="0"/>
              <a:t>    </a:t>
            </a:r>
            <a:r>
              <a:rPr lang="es-PE" dirty="0" err="1"/>
              <a:t>plt.legend</a:t>
            </a:r>
            <a:r>
              <a:rPr lang="es-PE" dirty="0"/>
              <a:t>(</a:t>
            </a:r>
            <a:r>
              <a:rPr lang="es-PE" dirty="0" err="1"/>
              <a:t>loc</a:t>
            </a:r>
            <a:r>
              <a:rPr lang="es-PE" dirty="0"/>
              <a:t>='</a:t>
            </a:r>
            <a:r>
              <a:rPr lang="es-PE" dirty="0" err="1"/>
              <a:t>upper</a:t>
            </a:r>
            <a:r>
              <a:rPr lang="es-PE" dirty="0"/>
              <a:t> center')</a:t>
            </a:r>
          </a:p>
          <a:p>
            <a:r>
              <a:rPr lang="es-PE" dirty="0"/>
              <a:t>    </a:t>
            </a:r>
            <a:r>
              <a:rPr lang="es-PE" dirty="0" err="1"/>
              <a:t>plt.legend</a:t>
            </a:r>
            <a:r>
              <a:rPr lang="es-PE" dirty="0"/>
              <a:t>(</a:t>
            </a:r>
            <a:r>
              <a:rPr lang="es-PE" dirty="0" err="1"/>
              <a:t>loc</a:t>
            </a:r>
            <a:r>
              <a:rPr lang="es-PE" dirty="0"/>
              <a:t>='center </a:t>
            </a:r>
            <a:r>
              <a:rPr lang="es-PE" dirty="0" err="1"/>
              <a:t>left</a:t>
            </a:r>
            <a:r>
              <a:rPr lang="es-PE" dirty="0"/>
              <a:t>')</a:t>
            </a:r>
          </a:p>
          <a:p>
            <a:r>
              <a:rPr lang="es-PE" dirty="0"/>
              <a:t>    </a:t>
            </a:r>
            <a:r>
              <a:rPr lang="es-PE" dirty="0" err="1"/>
              <a:t>plt.title</a:t>
            </a:r>
            <a:r>
              <a:rPr lang="es-PE" dirty="0"/>
              <a:t>(" </a:t>
            </a:r>
            <a:r>
              <a:rPr lang="es-PE" dirty="0" err="1"/>
              <a:t>Almacen</a:t>
            </a:r>
            <a:r>
              <a:rPr lang="es-PE" dirty="0"/>
              <a:t>")</a:t>
            </a:r>
          </a:p>
          <a:p>
            <a:r>
              <a:rPr lang="es-PE" dirty="0"/>
              <a:t>    </a:t>
            </a:r>
            <a:r>
              <a:rPr lang="es-PE" dirty="0" err="1"/>
              <a:t>plt.show</a:t>
            </a:r>
            <a:r>
              <a:rPr lang="es-PE" dirty="0"/>
              <a:t>()</a:t>
            </a:r>
          </a:p>
          <a:p>
            <a:r>
              <a:rPr lang="es-PE" dirty="0"/>
              <a:t>    </a:t>
            </a:r>
            <a:r>
              <a:rPr lang="es-PE" dirty="0" err="1"/>
              <a:t>return</a:t>
            </a:r>
            <a:r>
              <a:rPr lang="es-PE" dirty="0"/>
              <a:t> </a:t>
            </a:r>
            <a:r>
              <a:rPr lang="es-PE" dirty="0" err="1"/>
              <a:t>plt</a:t>
            </a:r>
            <a:endParaRPr lang="es-PE" dirty="0"/>
          </a:p>
          <a:p>
            <a:r>
              <a:rPr lang="es-PE" dirty="0" err="1"/>
              <a:t>def</a:t>
            </a:r>
            <a:r>
              <a:rPr lang="es-PE" dirty="0"/>
              <a:t> </a:t>
            </a:r>
            <a:r>
              <a:rPr lang="es-PE" dirty="0" err="1"/>
              <a:t>funcion_totalVentas</a:t>
            </a:r>
            <a:r>
              <a:rPr lang="es-PE" dirty="0"/>
              <a:t>():</a:t>
            </a:r>
          </a:p>
          <a:p>
            <a:r>
              <a:rPr lang="es-PE" dirty="0"/>
              <a:t>    modelo1 = </a:t>
            </a:r>
            <a:r>
              <a:rPr lang="es-PE" dirty="0" err="1"/>
              <a:t>pysd.read_vensim</a:t>
            </a:r>
            <a:r>
              <a:rPr lang="es-PE" dirty="0"/>
              <a:t>('</a:t>
            </a:r>
            <a:r>
              <a:rPr lang="es-PE" dirty="0" err="1"/>
              <a:t>Forrester_modelo_cia.mdl</a:t>
            </a:r>
            <a:r>
              <a:rPr lang="es-PE" dirty="0"/>
              <a:t>')</a:t>
            </a:r>
          </a:p>
          <a:p>
            <a:r>
              <a:rPr lang="es-PE" dirty="0"/>
              <a:t>    valores1 = modelo1.run(</a:t>
            </a:r>
            <a:r>
              <a:rPr lang="es-PE" dirty="0" err="1"/>
              <a:t>return_columns</a:t>
            </a:r>
            <a:r>
              <a:rPr lang="es-PE" dirty="0"/>
              <a:t> = ['</a:t>
            </a:r>
            <a:r>
              <a:rPr lang="es-PE" dirty="0" err="1"/>
              <a:t>ventastotal</a:t>
            </a:r>
            <a:r>
              <a:rPr lang="es-PE" dirty="0"/>
              <a:t>'])</a:t>
            </a:r>
          </a:p>
          <a:p>
            <a:r>
              <a:rPr lang="es-PE" dirty="0"/>
              <a:t>    tabla1 = valores1.head(6)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(tabla1)</a:t>
            </a:r>
          </a:p>
          <a:p>
            <a:r>
              <a:rPr lang="es-PE" dirty="0"/>
              <a:t>    valores1.plot()</a:t>
            </a:r>
          </a:p>
          <a:p>
            <a:r>
              <a:rPr lang="es-PE" dirty="0"/>
              <a:t>    </a:t>
            </a:r>
            <a:r>
              <a:rPr lang="es-PE" dirty="0" err="1"/>
              <a:t>plt.ylabel</a:t>
            </a:r>
            <a:r>
              <a:rPr lang="es-PE" dirty="0"/>
              <a:t>('</a:t>
            </a:r>
            <a:r>
              <a:rPr lang="es-PE" dirty="0" err="1"/>
              <a:t>ventastotal</a:t>
            </a:r>
            <a:r>
              <a:rPr lang="es-PE" dirty="0"/>
              <a:t>(millones)')</a:t>
            </a:r>
          </a:p>
          <a:p>
            <a:r>
              <a:rPr lang="es-PE" dirty="0"/>
              <a:t>    </a:t>
            </a:r>
            <a:r>
              <a:rPr lang="es-PE" dirty="0" err="1"/>
              <a:t>plt.xlabel</a:t>
            </a:r>
            <a:r>
              <a:rPr lang="es-PE" dirty="0"/>
              <a:t>('Años')</a:t>
            </a:r>
          </a:p>
          <a:p>
            <a:r>
              <a:rPr lang="es-PE" dirty="0"/>
              <a:t>    </a:t>
            </a:r>
            <a:r>
              <a:rPr lang="es-PE" dirty="0" err="1"/>
              <a:t>plt.legend</a:t>
            </a:r>
            <a:r>
              <a:rPr lang="es-PE" dirty="0"/>
              <a:t>(</a:t>
            </a:r>
            <a:r>
              <a:rPr lang="es-PE" dirty="0" err="1"/>
              <a:t>loc</a:t>
            </a:r>
            <a:r>
              <a:rPr lang="es-PE" dirty="0"/>
              <a:t>='center </a:t>
            </a:r>
            <a:r>
              <a:rPr lang="es-PE" dirty="0" err="1"/>
              <a:t>left</a:t>
            </a:r>
            <a:r>
              <a:rPr lang="es-PE" dirty="0"/>
              <a:t>')</a:t>
            </a:r>
          </a:p>
          <a:p>
            <a:r>
              <a:rPr lang="es-PE" dirty="0"/>
              <a:t>    </a:t>
            </a:r>
            <a:r>
              <a:rPr lang="es-PE" dirty="0" err="1"/>
              <a:t>plt.title</a:t>
            </a:r>
            <a:r>
              <a:rPr lang="es-PE" dirty="0"/>
              <a:t>(" Total de ventas")</a:t>
            </a:r>
          </a:p>
          <a:p>
            <a:r>
              <a:rPr lang="es-PE" dirty="0"/>
              <a:t>    </a:t>
            </a:r>
            <a:r>
              <a:rPr lang="es-PE" dirty="0" err="1"/>
              <a:t>plt.show</a:t>
            </a:r>
            <a:r>
              <a:rPr lang="es-PE" dirty="0"/>
              <a:t>()</a:t>
            </a:r>
          </a:p>
          <a:p>
            <a:r>
              <a:rPr lang="es-PE" dirty="0"/>
              <a:t>    </a:t>
            </a:r>
            <a:r>
              <a:rPr lang="es-PE" dirty="0" err="1"/>
              <a:t>os.system</a:t>
            </a:r>
            <a:r>
              <a:rPr lang="es-PE" dirty="0"/>
              <a:t> ("</a:t>
            </a:r>
            <a:r>
              <a:rPr lang="es-PE" dirty="0" err="1"/>
              <a:t>cls</a:t>
            </a:r>
            <a:r>
              <a:rPr lang="es-PE" dirty="0"/>
              <a:t>")</a:t>
            </a:r>
          </a:p>
          <a:p>
            <a:r>
              <a:rPr lang="es-PE" dirty="0"/>
              <a:t>    </a:t>
            </a:r>
            <a:r>
              <a:rPr lang="es-PE" dirty="0" err="1"/>
              <a:t>return</a:t>
            </a:r>
            <a:r>
              <a:rPr lang="es-PE" dirty="0"/>
              <a:t> </a:t>
            </a:r>
            <a:r>
              <a:rPr lang="es-PE" dirty="0" err="1"/>
              <a:t>plt</a:t>
            </a:r>
            <a:endParaRPr lang="es-PE" dirty="0"/>
          </a:p>
          <a:p>
            <a:r>
              <a:rPr lang="es-PE" dirty="0"/>
              <a:t>    </a:t>
            </a:r>
          </a:p>
          <a:p>
            <a:r>
              <a:rPr lang="es-PE" dirty="0" err="1"/>
              <a:t>def</a:t>
            </a:r>
            <a:r>
              <a:rPr lang="es-PE" dirty="0"/>
              <a:t> </a:t>
            </a:r>
            <a:r>
              <a:rPr lang="es-PE" dirty="0" err="1"/>
              <a:t>funcion_Discrep</a:t>
            </a:r>
            <a:r>
              <a:rPr lang="es-PE" dirty="0"/>
              <a:t>():</a:t>
            </a:r>
          </a:p>
          <a:p>
            <a:r>
              <a:rPr lang="es-PE" dirty="0"/>
              <a:t>    modelo2 = </a:t>
            </a:r>
            <a:r>
              <a:rPr lang="es-PE" dirty="0" err="1"/>
              <a:t>pysd.read_vensim</a:t>
            </a:r>
            <a:r>
              <a:rPr lang="es-PE" dirty="0"/>
              <a:t>('</a:t>
            </a:r>
            <a:r>
              <a:rPr lang="es-PE" dirty="0" err="1"/>
              <a:t>Forrester_modelo_cia.mdl</a:t>
            </a:r>
            <a:r>
              <a:rPr lang="es-PE" dirty="0"/>
              <a:t>')</a:t>
            </a:r>
          </a:p>
          <a:p>
            <a:r>
              <a:rPr lang="es-PE" dirty="0"/>
              <a:t>    valores2 = modelo2.run(</a:t>
            </a:r>
            <a:r>
              <a:rPr lang="es-PE" dirty="0" err="1"/>
              <a:t>return_columns</a:t>
            </a:r>
            <a:r>
              <a:rPr lang="es-PE" dirty="0"/>
              <a:t> = ['discrepancia'])</a:t>
            </a:r>
          </a:p>
          <a:p>
            <a:r>
              <a:rPr lang="es-PE" dirty="0"/>
              <a:t>    tabla2 = valores2.head(6)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(tabla2)</a:t>
            </a:r>
          </a:p>
          <a:p>
            <a:r>
              <a:rPr lang="es-PE" dirty="0"/>
              <a:t>    valores2.plot()</a:t>
            </a:r>
          </a:p>
          <a:p>
            <a:r>
              <a:rPr lang="es-PE" dirty="0"/>
              <a:t>    </a:t>
            </a:r>
            <a:r>
              <a:rPr lang="es-PE" dirty="0" err="1"/>
              <a:t>plt.ylabel</a:t>
            </a:r>
            <a:r>
              <a:rPr lang="es-PE" dirty="0"/>
              <a:t>('Productos(millones)')</a:t>
            </a:r>
          </a:p>
          <a:p>
            <a:r>
              <a:rPr lang="es-PE" dirty="0"/>
              <a:t>    </a:t>
            </a:r>
            <a:r>
              <a:rPr lang="es-PE" dirty="0" err="1"/>
              <a:t>plt.xlabel</a:t>
            </a:r>
            <a:r>
              <a:rPr lang="es-PE" dirty="0"/>
              <a:t>('Años')</a:t>
            </a:r>
          </a:p>
          <a:p>
            <a:r>
              <a:rPr lang="es-PE" dirty="0"/>
              <a:t>    </a:t>
            </a:r>
            <a:r>
              <a:rPr lang="es-PE" dirty="0" err="1"/>
              <a:t>plt.legend</a:t>
            </a:r>
            <a:r>
              <a:rPr lang="es-PE" dirty="0"/>
              <a:t>(</a:t>
            </a:r>
            <a:r>
              <a:rPr lang="es-PE" dirty="0" err="1"/>
              <a:t>loc</a:t>
            </a:r>
            <a:r>
              <a:rPr lang="es-PE" dirty="0"/>
              <a:t>='center </a:t>
            </a:r>
            <a:r>
              <a:rPr lang="es-PE" dirty="0" err="1"/>
              <a:t>left</a:t>
            </a:r>
            <a:r>
              <a:rPr lang="es-PE" dirty="0"/>
              <a:t>')</a:t>
            </a:r>
          </a:p>
          <a:p>
            <a:r>
              <a:rPr lang="es-PE" dirty="0"/>
              <a:t>    </a:t>
            </a:r>
            <a:r>
              <a:rPr lang="es-PE" dirty="0" err="1"/>
              <a:t>plt.title</a:t>
            </a:r>
            <a:r>
              <a:rPr lang="es-PE" dirty="0"/>
              <a:t>(" Discrepancia para el proveedor ")</a:t>
            </a:r>
          </a:p>
          <a:p>
            <a:r>
              <a:rPr lang="es-PE" dirty="0"/>
              <a:t>    </a:t>
            </a:r>
            <a:r>
              <a:rPr lang="es-PE" dirty="0" err="1"/>
              <a:t>plt.show</a:t>
            </a:r>
            <a:r>
              <a:rPr lang="es-PE" dirty="0"/>
              <a:t>()</a:t>
            </a:r>
          </a:p>
          <a:p>
            <a:r>
              <a:rPr lang="es-PE" dirty="0"/>
              <a:t>    </a:t>
            </a:r>
            <a:r>
              <a:rPr lang="es-PE" dirty="0" err="1"/>
              <a:t>os.system</a:t>
            </a:r>
            <a:r>
              <a:rPr lang="es-PE" dirty="0"/>
              <a:t> ("</a:t>
            </a:r>
            <a:r>
              <a:rPr lang="es-PE" dirty="0" err="1"/>
              <a:t>cls</a:t>
            </a:r>
            <a:r>
              <a:rPr lang="es-PE" dirty="0"/>
              <a:t>")</a:t>
            </a:r>
          </a:p>
          <a:p>
            <a:r>
              <a:rPr lang="es-PE" dirty="0"/>
              <a:t>    </a:t>
            </a:r>
            <a:r>
              <a:rPr lang="es-PE" dirty="0" err="1"/>
              <a:t>return</a:t>
            </a:r>
            <a:r>
              <a:rPr lang="es-PE" dirty="0"/>
              <a:t> </a:t>
            </a:r>
            <a:r>
              <a:rPr lang="es-PE" dirty="0" err="1"/>
              <a:t>plt</a:t>
            </a:r>
            <a:endParaRPr lang="es-PE" dirty="0"/>
          </a:p>
          <a:p>
            <a:r>
              <a:rPr lang="es-PE" dirty="0" err="1"/>
              <a:t>def</a:t>
            </a:r>
            <a:r>
              <a:rPr lang="es-PE" dirty="0"/>
              <a:t> </a:t>
            </a:r>
            <a:r>
              <a:rPr lang="es-PE" dirty="0" err="1"/>
              <a:t>funcProv</a:t>
            </a:r>
            <a:r>
              <a:rPr lang="es-PE" dirty="0"/>
              <a:t>():</a:t>
            </a:r>
          </a:p>
          <a:p>
            <a:r>
              <a:rPr lang="es-PE" dirty="0"/>
              <a:t>    modelo3 = </a:t>
            </a:r>
            <a:r>
              <a:rPr lang="es-PE" dirty="0" err="1"/>
              <a:t>pysd.read_vensim</a:t>
            </a:r>
            <a:r>
              <a:rPr lang="es-PE" dirty="0"/>
              <a:t>('</a:t>
            </a:r>
            <a:r>
              <a:rPr lang="es-PE" dirty="0" err="1"/>
              <a:t>Forrester_modelo_cia.mdl</a:t>
            </a:r>
            <a:r>
              <a:rPr lang="es-PE" dirty="0"/>
              <a:t>')</a:t>
            </a:r>
          </a:p>
          <a:p>
            <a:r>
              <a:rPr lang="es-PE" dirty="0"/>
              <a:t>    valores3 = modelo3.run(</a:t>
            </a:r>
            <a:r>
              <a:rPr lang="es-PE" dirty="0" err="1"/>
              <a:t>return_columns</a:t>
            </a:r>
            <a:r>
              <a:rPr lang="es-PE" dirty="0"/>
              <a:t> = ['proveedor'])</a:t>
            </a:r>
          </a:p>
          <a:p>
            <a:r>
              <a:rPr lang="es-PE" dirty="0"/>
              <a:t>    tabla3 = valores3.head(6)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(tabla3)</a:t>
            </a:r>
          </a:p>
          <a:p>
            <a:r>
              <a:rPr lang="es-PE" dirty="0"/>
              <a:t>    valores3.plot()</a:t>
            </a:r>
          </a:p>
          <a:p>
            <a:r>
              <a:rPr lang="es-PE" dirty="0"/>
              <a:t>    </a:t>
            </a:r>
            <a:r>
              <a:rPr lang="es-PE" dirty="0" err="1"/>
              <a:t>plt.ylabel</a:t>
            </a:r>
            <a:r>
              <a:rPr lang="es-PE" dirty="0"/>
              <a:t>('Cantidades(millones)proveedor')</a:t>
            </a:r>
          </a:p>
          <a:p>
            <a:r>
              <a:rPr lang="es-PE" dirty="0"/>
              <a:t>    </a:t>
            </a:r>
            <a:r>
              <a:rPr lang="es-PE" dirty="0" err="1"/>
              <a:t>plt.xlabel</a:t>
            </a:r>
            <a:r>
              <a:rPr lang="es-PE" dirty="0"/>
              <a:t>('Años')</a:t>
            </a:r>
          </a:p>
          <a:p>
            <a:r>
              <a:rPr lang="es-PE" dirty="0"/>
              <a:t>    </a:t>
            </a:r>
            <a:r>
              <a:rPr lang="es-PE" dirty="0" err="1"/>
              <a:t>plt.legend</a:t>
            </a:r>
            <a:r>
              <a:rPr lang="es-PE" dirty="0"/>
              <a:t>(</a:t>
            </a:r>
            <a:r>
              <a:rPr lang="es-PE" dirty="0" err="1"/>
              <a:t>loc</a:t>
            </a:r>
            <a:r>
              <a:rPr lang="es-PE" dirty="0"/>
              <a:t>='</a:t>
            </a:r>
            <a:r>
              <a:rPr lang="es-PE" dirty="0" err="1"/>
              <a:t>upper</a:t>
            </a:r>
            <a:r>
              <a:rPr lang="es-PE" dirty="0"/>
              <a:t> center')</a:t>
            </a:r>
          </a:p>
          <a:p>
            <a:r>
              <a:rPr lang="es-PE" dirty="0"/>
              <a:t>    </a:t>
            </a:r>
            <a:r>
              <a:rPr lang="es-PE" dirty="0" err="1"/>
              <a:t>plt.legend</a:t>
            </a:r>
            <a:r>
              <a:rPr lang="es-PE" dirty="0"/>
              <a:t>(</a:t>
            </a:r>
            <a:r>
              <a:rPr lang="es-PE" dirty="0" err="1"/>
              <a:t>loc</a:t>
            </a:r>
            <a:r>
              <a:rPr lang="es-PE" dirty="0"/>
              <a:t>='center </a:t>
            </a:r>
            <a:r>
              <a:rPr lang="es-PE" dirty="0" err="1"/>
              <a:t>left</a:t>
            </a:r>
            <a:r>
              <a:rPr lang="es-PE" dirty="0"/>
              <a:t>')</a:t>
            </a:r>
          </a:p>
          <a:p>
            <a:r>
              <a:rPr lang="es-PE" dirty="0"/>
              <a:t>    </a:t>
            </a:r>
            <a:r>
              <a:rPr lang="es-PE" dirty="0" err="1"/>
              <a:t>plt.title</a:t>
            </a:r>
            <a:r>
              <a:rPr lang="es-PE" dirty="0"/>
              <a:t>(" Proveedor de productos")</a:t>
            </a:r>
          </a:p>
          <a:p>
            <a:r>
              <a:rPr lang="es-PE" dirty="0"/>
              <a:t>    </a:t>
            </a:r>
            <a:r>
              <a:rPr lang="es-PE" dirty="0" err="1"/>
              <a:t>plt.show</a:t>
            </a:r>
            <a:r>
              <a:rPr lang="es-PE" dirty="0"/>
              <a:t>()</a:t>
            </a:r>
          </a:p>
          <a:p>
            <a:r>
              <a:rPr lang="es-PE" dirty="0"/>
              <a:t>    </a:t>
            </a:r>
            <a:r>
              <a:rPr lang="es-PE" dirty="0" err="1"/>
              <a:t>return</a:t>
            </a:r>
            <a:r>
              <a:rPr lang="es-PE" dirty="0"/>
              <a:t> </a:t>
            </a:r>
            <a:r>
              <a:rPr lang="es-PE" dirty="0" err="1"/>
              <a:t>plt</a:t>
            </a:r>
            <a:endParaRPr lang="es-PE" dirty="0"/>
          </a:p>
          <a:p>
            <a:r>
              <a:rPr lang="es-PE" dirty="0" err="1"/>
              <a:t>def</a:t>
            </a:r>
            <a:r>
              <a:rPr lang="es-PE" dirty="0"/>
              <a:t> ventas():</a:t>
            </a:r>
          </a:p>
          <a:p>
            <a:r>
              <a:rPr lang="es-PE" dirty="0"/>
              <a:t>    modelo4 = </a:t>
            </a:r>
            <a:r>
              <a:rPr lang="es-PE" dirty="0" err="1"/>
              <a:t>pysd.read_vensim</a:t>
            </a:r>
            <a:r>
              <a:rPr lang="es-PE" dirty="0"/>
              <a:t>('</a:t>
            </a:r>
            <a:r>
              <a:rPr lang="es-PE" dirty="0" err="1"/>
              <a:t>Forrester_modelo_cia.mdl</a:t>
            </a:r>
            <a:r>
              <a:rPr lang="es-PE" dirty="0"/>
              <a:t>')</a:t>
            </a:r>
          </a:p>
          <a:p>
            <a:r>
              <a:rPr lang="es-PE" dirty="0"/>
              <a:t>    valores4 = modelo4.run(</a:t>
            </a:r>
            <a:r>
              <a:rPr lang="es-PE" dirty="0" err="1"/>
              <a:t>return_columns</a:t>
            </a:r>
            <a:r>
              <a:rPr lang="es-PE" dirty="0"/>
              <a:t> = ['ventas'])</a:t>
            </a:r>
          </a:p>
          <a:p>
            <a:r>
              <a:rPr lang="es-PE" dirty="0"/>
              <a:t>    tabla4 = valores4.head(6)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(tabla4)</a:t>
            </a:r>
          </a:p>
          <a:p>
            <a:r>
              <a:rPr lang="es-PE" dirty="0"/>
              <a:t>    valores4.plot()</a:t>
            </a:r>
          </a:p>
          <a:p>
            <a:r>
              <a:rPr lang="es-PE" dirty="0"/>
              <a:t>    </a:t>
            </a:r>
            <a:r>
              <a:rPr lang="es-PE" dirty="0" err="1"/>
              <a:t>plt.ylabel</a:t>
            </a:r>
            <a:r>
              <a:rPr lang="es-PE" dirty="0"/>
              <a:t>('Cantidades(millones)Ventas')</a:t>
            </a:r>
          </a:p>
          <a:p>
            <a:r>
              <a:rPr lang="es-PE" dirty="0"/>
              <a:t>    </a:t>
            </a:r>
            <a:r>
              <a:rPr lang="es-PE" dirty="0" err="1"/>
              <a:t>plt.xlabel</a:t>
            </a:r>
            <a:r>
              <a:rPr lang="es-PE" dirty="0"/>
              <a:t>('Años')</a:t>
            </a:r>
          </a:p>
          <a:p>
            <a:r>
              <a:rPr lang="es-PE" dirty="0"/>
              <a:t>    </a:t>
            </a:r>
            <a:r>
              <a:rPr lang="es-PE" dirty="0" err="1"/>
              <a:t>plt.legend</a:t>
            </a:r>
            <a:r>
              <a:rPr lang="es-PE" dirty="0"/>
              <a:t>(</a:t>
            </a:r>
            <a:r>
              <a:rPr lang="es-PE" dirty="0" err="1"/>
              <a:t>loc</a:t>
            </a:r>
            <a:r>
              <a:rPr lang="es-PE" dirty="0"/>
              <a:t>='</a:t>
            </a:r>
            <a:r>
              <a:rPr lang="es-PE" dirty="0" err="1"/>
              <a:t>upper</a:t>
            </a:r>
            <a:r>
              <a:rPr lang="es-PE" dirty="0"/>
              <a:t> center')</a:t>
            </a:r>
          </a:p>
          <a:p>
            <a:r>
              <a:rPr lang="es-PE" dirty="0"/>
              <a:t>    </a:t>
            </a:r>
            <a:r>
              <a:rPr lang="es-PE" dirty="0" err="1"/>
              <a:t>plt.legend</a:t>
            </a:r>
            <a:r>
              <a:rPr lang="es-PE" dirty="0"/>
              <a:t>(</a:t>
            </a:r>
            <a:r>
              <a:rPr lang="es-PE" dirty="0" err="1"/>
              <a:t>loc</a:t>
            </a:r>
            <a:r>
              <a:rPr lang="es-PE" dirty="0"/>
              <a:t>='center </a:t>
            </a:r>
            <a:r>
              <a:rPr lang="es-PE" dirty="0" err="1"/>
              <a:t>left</a:t>
            </a:r>
            <a:r>
              <a:rPr lang="es-PE" dirty="0"/>
              <a:t>')</a:t>
            </a:r>
          </a:p>
          <a:p>
            <a:r>
              <a:rPr lang="es-PE" dirty="0"/>
              <a:t>    </a:t>
            </a:r>
            <a:r>
              <a:rPr lang="es-PE" dirty="0" err="1"/>
              <a:t>plt.title</a:t>
            </a:r>
            <a:r>
              <a:rPr lang="es-PE" dirty="0"/>
              <a:t>(" Ventas anuales")</a:t>
            </a:r>
          </a:p>
          <a:p>
            <a:r>
              <a:rPr lang="es-PE" dirty="0"/>
              <a:t>    </a:t>
            </a:r>
            <a:r>
              <a:rPr lang="es-PE" dirty="0" err="1"/>
              <a:t>plt.show</a:t>
            </a:r>
            <a:r>
              <a:rPr lang="es-PE" dirty="0"/>
              <a:t>()</a:t>
            </a:r>
          </a:p>
          <a:p>
            <a:r>
              <a:rPr lang="es-PE" dirty="0"/>
              <a:t>    </a:t>
            </a:r>
            <a:r>
              <a:rPr lang="es-PE" dirty="0" err="1"/>
              <a:t>return</a:t>
            </a:r>
            <a:r>
              <a:rPr lang="es-PE" dirty="0"/>
              <a:t> </a:t>
            </a:r>
            <a:r>
              <a:rPr lang="es-PE" dirty="0" err="1"/>
              <a:t>plt</a:t>
            </a:r>
            <a:endParaRPr lang="es-PE" dirty="0"/>
          </a:p>
          <a:p>
            <a:endParaRPr lang="es-PE" dirty="0"/>
          </a:p>
          <a:p>
            <a:r>
              <a:rPr lang="es-PE" dirty="0" err="1"/>
              <a:t>def</a:t>
            </a:r>
            <a:r>
              <a:rPr lang="es-PE" dirty="0"/>
              <a:t> incrementar():</a:t>
            </a:r>
          </a:p>
          <a:p>
            <a:r>
              <a:rPr lang="es-PE" dirty="0"/>
              <a:t>    modelo5 = </a:t>
            </a:r>
            <a:r>
              <a:rPr lang="es-PE" dirty="0" err="1"/>
              <a:t>pysd.read_vensim</a:t>
            </a:r>
            <a:r>
              <a:rPr lang="es-PE" dirty="0"/>
              <a:t>('</a:t>
            </a:r>
            <a:r>
              <a:rPr lang="es-PE" dirty="0" err="1"/>
              <a:t>Forrester_modelo_cia.mdl</a:t>
            </a:r>
            <a:r>
              <a:rPr lang="es-PE" dirty="0"/>
              <a:t>')</a:t>
            </a:r>
          </a:p>
          <a:p>
            <a:r>
              <a:rPr lang="es-PE" dirty="0"/>
              <a:t>    valores5 = modelo5.run(</a:t>
            </a:r>
            <a:r>
              <a:rPr lang="es-PE" dirty="0" err="1"/>
              <a:t>return_columns</a:t>
            </a:r>
            <a:r>
              <a:rPr lang="es-PE" dirty="0"/>
              <a:t> = ['incremento'])</a:t>
            </a:r>
          </a:p>
          <a:p>
            <a:r>
              <a:rPr lang="es-PE" dirty="0"/>
              <a:t>    tabla5 = valores5.head(6)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(tabla5)</a:t>
            </a:r>
          </a:p>
          <a:p>
            <a:r>
              <a:rPr lang="es-PE" dirty="0"/>
              <a:t>    valores5.plot()</a:t>
            </a:r>
          </a:p>
          <a:p>
            <a:r>
              <a:rPr lang="es-PE" dirty="0"/>
              <a:t>    </a:t>
            </a:r>
            <a:r>
              <a:rPr lang="es-PE" dirty="0" err="1"/>
              <a:t>plt.ylabel</a:t>
            </a:r>
            <a:r>
              <a:rPr lang="es-PE" dirty="0"/>
              <a:t>('Cantidades(millones)Ventas')</a:t>
            </a:r>
          </a:p>
          <a:p>
            <a:r>
              <a:rPr lang="es-PE" dirty="0"/>
              <a:t>    </a:t>
            </a:r>
            <a:r>
              <a:rPr lang="es-PE" dirty="0" err="1"/>
              <a:t>plt.xlabel</a:t>
            </a:r>
            <a:r>
              <a:rPr lang="es-PE" dirty="0"/>
              <a:t>('Años')</a:t>
            </a:r>
          </a:p>
          <a:p>
            <a:r>
              <a:rPr lang="es-PE" dirty="0"/>
              <a:t>    </a:t>
            </a:r>
            <a:r>
              <a:rPr lang="es-PE" dirty="0" err="1"/>
              <a:t>plt.legend</a:t>
            </a:r>
            <a:r>
              <a:rPr lang="es-PE" dirty="0"/>
              <a:t>(</a:t>
            </a:r>
            <a:r>
              <a:rPr lang="es-PE" dirty="0" err="1"/>
              <a:t>loc</a:t>
            </a:r>
            <a:r>
              <a:rPr lang="es-PE" dirty="0"/>
              <a:t>='</a:t>
            </a:r>
            <a:r>
              <a:rPr lang="es-PE" dirty="0" err="1"/>
              <a:t>upper</a:t>
            </a:r>
            <a:r>
              <a:rPr lang="es-PE" dirty="0"/>
              <a:t> center')</a:t>
            </a:r>
          </a:p>
          <a:p>
            <a:r>
              <a:rPr lang="es-PE" dirty="0"/>
              <a:t>    </a:t>
            </a:r>
            <a:r>
              <a:rPr lang="es-PE" dirty="0" err="1"/>
              <a:t>plt.legend</a:t>
            </a:r>
            <a:r>
              <a:rPr lang="es-PE" dirty="0"/>
              <a:t>(</a:t>
            </a:r>
            <a:r>
              <a:rPr lang="es-PE" dirty="0" err="1"/>
              <a:t>loc</a:t>
            </a:r>
            <a:r>
              <a:rPr lang="es-PE" dirty="0"/>
              <a:t>='center </a:t>
            </a:r>
            <a:r>
              <a:rPr lang="es-PE" dirty="0" err="1"/>
              <a:t>left</a:t>
            </a:r>
            <a:r>
              <a:rPr lang="es-PE" dirty="0"/>
              <a:t>')</a:t>
            </a:r>
          </a:p>
          <a:p>
            <a:r>
              <a:rPr lang="es-PE" dirty="0"/>
              <a:t>    </a:t>
            </a:r>
            <a:r>
              <a:rPr lang="es-PE" dirty="0" err="1"/>
              <a:t>plt.title</a:t>
            </a:r>
            <a:r>
              <a:rPr lang="es-PE" dirty="0"/>
              <a:t>(" Tasa de incremento anual")</a:t>
            </a:r>
          </a:p>
          <a:p>
            <a:r>
              <a:rPr lang="es-PE" dirty="0"/>
              <a:t>    </a:t>
            </a:r>
            <a:r>
              <a:rPr lang="es-PE" dirty="0" err="1"/>
              <a:t>plt.show</a:t>
            </a:r>
            <a:r>
              <a:rPr lang="es-PE" dirty="0"/>
              <a:t>()</a:t>
            </a:r>
          </a:p>
          <a:p>
            <a:r>
              <a:rPr lang="es-PE" dirty="0"/>
              <a:t>    </a:t>
            </a:r>
            <a:r>
              <a:rPr lang="es-PE" dirty="0" err="1"/>
              <a:t>return</a:t>
            </a:r>
            <a:r>
              <a:rPr lang="es-PE" dirty="0"/>
              <a:t> </a:t>
            </a:r>
            <a:r>
              <a:rPr lang="es-PE" dirty="0" err="1"/>
              <a:t>plt</a:t>
            </a:r>
            <a:endParaRPr lang="es-PE" dirty="0"/>
          </a:p>
          <a:p>
            <a:endParaRPr lang="es-PE" dirty="0"/>
          </a:p>
          <a:p>
            <a:r>
              <a:rPr lang="es-PE" dirty="0" err="1"/>
              <a:t>def</a:t>
            </a:r>
            <a:r>
              <a:rPr lang="es-PE" dirty="0"/>
              <a:t> </a:t>
            </a:r>
            <a:r>
              <a:rPr lang="es-PE" dirty="0" err="1"/>
              <a:t>menuP</a:t>
            </a:r>
            <a:r>
              <a:rPr lang="es-PE" dirty="0"/>
              <a:t>():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(" \n\</a:t>
            </a:r>
            <a:r>
              <a:rPr lang="es-PE" dirty="0" err="1"/>
              <a:t>tModulo</a:t>
            </a:r>
            <a:r>
              <a:rPr lang="es-PE" dirty="0"/>
              <a:t>: Python-</a:t>
            </a:r>
            <a:r>
              <a:rPr lang="es-PE" dirty="0" err="1"/>
              <a:t>Dinamica</a:t>
            </a:r>
            <a:r>
              <a:rPr lang="es-PE" dirty="0"/>
              <a:t> (</a:t>
            </a:r>
            <a:r>
              <a:rPr lang="es-PE" dirty="0" err="1"/>
              <a:t>PySd</a:t>
            </a:r>
            <a:r>
              <a:rPr lang="es-PE" dirty="0"/>
              <a:t>) 2025 ")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("-"*70)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("\</a:t>
            </a:r>
            <a:r>
              <a:rPr lang="es-PE" dirty="0" err="1"/>
              <a:t>tMenu</a:t>
            </a:r>
            <a:r>
              <a:rPr lang="es-PE" dirty="0"/>
              <a:t> Principal")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("-"*60)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("\t&lt;1&gt; </a:t>
            </a:r>
            <a:r>
              <a:rPr lang="es-PE" dirty="0" err="1"/>
              <a:t>Almacen</a:t>
            </a:r>
            <a:r>
              <a:rPr lang="es-PE" dirty="0"/>
              <a:t>")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("\t&lt;2&gt; Ventas totales")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("\t&lt;3&gt; Discrepancia")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("\t&lt;4&gt; Proveedor")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("\t&lt;5&gt; Ventas")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("\t&lt;6   % de Incremento en </a:t>
            </a:r>
            <a:r>
              <a:rPr lang="es-PE" dirty="0" err="1"/>
              <a:t>Almacen</a:t>
            </a:r>
            <a:r>
              <a:rPr lang="es-PE" dirty="0"/>
              <a:t> ")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("\t&lt;7&gt; Salir")</a:t>
            </a:r>
          </a:p>
          <a:p>
            <a:r>
              <a:rPr lang="es-PE" dirty="0"/>
              <a:t>    </a:t>
            </a:r>
            <a:r>
              <a:rPr lang="es-PE" dirty="0" err="1"/>
              <a:t>print</a:t>
            </a:r>
            <a:r>
              <a:rPr lang="es-PE" dirty="0"/>
              <a:t>("-"*60)</a:t>
            </a:r>
          </a:p>
          <a:p>
            <a:r>
              <a:rPr lang="es-PE" dirty="0"/>
              <a:t>    </a:t>
            </a:r>
            <a:r>
              <a:rPr lang="es-PE" dirty="0" err="1"/>
              <a:t>opc</a:t>
            </a:r>
            <a:r>
              <a:rPr lang="es-PE" dirty="0"/>
              <a:t>=</a:t>
            </a:r>
            <a:r>
              <a:rPr lang="es-PE" dirty="0" err="1"/>
              <a:t>int</a:t>
            </a:r>
            <a:r>
              <a:rPr lang="es-PE" dirty="0"/>
              <a:t>(input(" Ingrese </a:t>
            </a:r>
            <a:r>
              <a:rPr lang="es-PE" dirty="0" err="1"/>
              <a:t>opcion</a:t>
            </a:r>
            <a:r>
              <a:rPr lang="es-PE" dirty="0"/>
              <a:t>= "))</a:t>
            </a:r>
          </a:p>
          <a:p>
            <a:r>
              <a:rPr lang="es-PE" dirty="0"/>
              <a:t>    </a:t>
            </a:r>
            <a:r>
              <a:rPr lang="es-PE" dirty="0" err="1"/>
              <a:t>if</a:t>
            </a:r>
            <a:r>
              <a:rPr lang="es-PE" dirty="0"/>
              <a:t> </a:t>
            </a:r>
            <a:r>
              <a:rPr lang="es-PE" dirty="0" err="1"/>
              <a:t>opc</a:t>
            </a:r>
            <a:r>
              <a:rPr lang="es-PE" dirty="0"/>
              <a:t>==1:</a:t>
            </a:r>
          </a:p>
          <a:p>
            <a:r>
              <a:rPr lang="es-PE" dirty="0"/>
              <a:t>        </a:t>
            </a:r>
            <a:r>
              <a:rPr lang="es-PE" dirty="0" err="1"/>
              <a:t>funcAlmacen</a:t>
            </a:r>
            <a:r>
              <a:rPr lang="es-PE" dirty="0"/>
              <a:t>()</a:t>
            </a:r>
          </a:p>
          <a:p>
            <a:r>
              <a:rPr lang="es-PE" dirty="0"/>
              <a:t>        </a:t>
            </a:r>
            <a:r>
              <a:rPr lang="es-PE" dirty="0" err="1"/>
              <a:t>menuP</a:t>
            </a:r>
            <a:r>
              <a:rPr lang="es-PE" dirty="0"/>
              <a:t>()</a:t>
            </a:r>
          </a:p>
          <a:p>
            <a:r>
              <a:rPr lang="es-PE" dirty="0"/>
              <a:t>    </a:t>
            </a:r>
            <a:r>
              <a:rPr lang="es-PE" dirty="0" err="1"/>
              <a:t>elif</a:t>
            </a:r>
            <a:r>
              <a:rPr lang="es-PE" dirty="0"/>
              <a:t> </a:t>
            </a:r>
            <a:r>
              <a:rPr lang="es-PE" dirty="0" err="1"/>
              <a:t>opc</a:t>
            </a:r>
            <a:r>
              <a:rPr lang="es-PE" dirty="0"/>
              <a:t>==2:</a:t>
            </a:r>
          </a:p>
          <a:p>
            <a:r>
              <a:rPr lang="es-PE" dirty="0"/>
              <a:t>         </a:t>
            </a:r>
            <a:r>
              <a:rPr lang="es-PE" dirty="0" err="1"/>
              <a:t>funcion_totalVentas</a:t>
            </a:r>
            <a:r>
              <a:rPr lang="es-PE" dirty="0"/>
              <a:t>()</a:t>
            </a:r>
          </a:p>
          <a:p>
            <a:r>
              <a:rPr lang="es-PE" dirty="0"/>
              <a:t>         </a:t>
            </a:r>
            <a:r>
              <a:rPr lang="es-PE" dirty="0" err="1"/>
              <a:t>menuP</a:t>
            </a:r>
            <a:r>
              <a:rPr lang="es-PE" dirty="0"/>
              <a:t>()</a:t>
            </a:r>
          </a:p>
          <a:p>
            <a:r>
              <a:rPr lang="es-PE" dirty="0"/>
              <a:t>    </a:t>
            </a:r>
            <a:r>
              <a:rPr lang="es-PE" dirty="0" err="1"/>
              <a:t>elif</a:t>
            </a:r>
            <a:r>
              <a:rPr lang="es-PE" dirty="0"/>
              <a:t> </a:t>
            </a:r>
            <a:r>
              <a:rPr lang="es-PE" dirty="0" err="1"/>
              <a:t>opc</a:t>
            </a:r>
            <a:r>
              <a:rPr lang="es-PE" dirty="0"/>
              <a:t>==3:</a:t>
            </a:r>
          </a:p>
          <a:p>
            <a:r>
              <a:rPr lang="es-PE" dirty="0"/>
              <a:t>         </a:t>
            </a:r>
            <a:r>
              <a:rPr lang="es-PE" dirty="0" err="1"/>
              <a:t>funcion_Discrep</a:t>
            </a:r>
            <a:r>
              <a:rPr lang="es-PE" dirty="0"/>
              <a:t>()</a:t>
            </a:r>
          </a:p>
          <a:p>
            <a:r>
              <a:rPr lang="es-PE" dirty="0"/>
              <a:t>         </a:t>
            </a:r>
            <a:r>
              <a:rPr lang="es-PE" dirty="0" err="1"/>
              <a:t>menuP</a:t>
            </a:r>
            <a:r>
              <a:rPr lang="es-PE" dirty="0"/>
              <a:t>()</a:t>
            </a:r>
          </a:p>
          <a:p>
            <a:r>
              <a:rPr lang="es-PE" dirty="0"/>
              <a:t>         </a:t>
            </a:r>
          </a:p>
          <a:p>
            <a:r>
              <a:rPr lang="es-PE" dirty="0"/>
              <a:t>    </a:t>
            </a:r>
            <a:r>
              <a:rPr lang="es-PE" dirty="0" err="1"/>
              <a:t>elif</a:t>
            </a:r>
            <a:r>
              <a:rPr lang="es-PE" dirty="0"/>
              <a:t> </a:t>
            </a:r>
            <a:r>
              <a:rPr lang="es-PE" dirty="0" err="1"/>
              <a:t>opc</a:t>
            </a:r>
            <a:r>
              <a:rPr lang="es-PE" dirty="0"/>
              <a:t>==4:</a:t>
            </a:r>
          </a:p>
          <a:p>
            <a:r>
              <a:rPr lang="es-PE" dirty="0"/>
              <a:t>        </a:t>
            </a:r>
            <a:r>
              <a:rPr lang="es-PE" dirty="0" err="1"/>
              <a:t>funcProv</a:t>
            </a:r>
            <a:r>
              <a:rPr lang="es-PE" dirty="0"/>
              <a:t>()</a:t>
            </a:r>
          </a:p>
          <a:p>
            <a:r>
              <a:rPr lang="es-PE" dirty="0"/>
              <a:t>        </a:t>
            </a:r>
            <a:r>
              <a:rPr lang="es-PE" dirty="0" err="1"/>
              <a:t>menuP</a:t>
            </a:r>
            <a:r>
              <a:rPr lang="es-PE" dirty="0"/>
              <a:t>()</a:t>
            </a:r>
          </a:p>
          <a:p>
            <a:r>
              <a:rPr lang="es-PE" dirty="0"/>
              <a:t>    </a:t>
            </a:r>
            <a:r>
              <a:rPr lang="es-PE" dirty="0" err="1"/>
              <a:t>elif</a:t>
            </a:r>
            <a:r>
              <a:rPr lang="es-PE" dirty="0"/>
              <a:t> </a:t>
            </a:r>
            <a:r>
              <a:rPr lang="es-PE" dirty="0" err="1"/>
              <a:t>opc</a:t>
            </a:r>
            <a:r>
              <a:rPr lang="es-PE" dirty="0"/>
              <a:t>==5:</a:t>
            </a:r>
          </a:p>
          <a:p>
            <a:r>
              <a:rPr lang="es-PE" dirty="0"/>
              <a:t>        ventas()</a:t>
            </a:r>
          </a:p>
          <a:p>
            <a:r>
              <a:rPr lang="es-PE" dirty="0"/>
              <a:t>        </a:t>
            </a:r>
            <a:r>
              <a:rPr lang="es-PE" dirty="0" err="1"/>
              <a:t>menuP</a:t>
            </a:r>
            <a:r>
              <a:rPr lang="es-PE" dirty="0"/>
              <a:t>()</a:t>
            </a:r>
          </a:p>
          <a:p>
            <a:r>
              <a:rPr lang="es-PE" dirty="0"/>
              <a:t>    </a:t>
            </a:r>
            <a:r>
              <a:rPr lang="es-PE" dirty="0" err="1"/>
              <a:t>elif</a:t>
            </a:r>
            <a:r>
              <a:rPr lang="es-PE" dirty="0"/>
              <a:t> </a:t>
            </a:r>
            <a:r>
              <a:rPr lang="es-PE" dirty="0" err="1"/>
              <a:t>opc</a:t>
            </a:r>
            <a:r>
              <a:rPr lang="es-PE" dirty="0"/>
              <a:t>==6:</a:t>
            </a:r>
          </a:p>
          <a:p>
            <a:r>
              <a:rPr lang="es-PE" dirty="0"/>
              <a:t>        incrementar()</a:t>
            </a:r>
          </a:p>
          <a:p>
            <a:r>
              <a:rPr lang="es-PE" dirty="0"/>
              <a:t>        </a:t>
            </a:r>
            <a:r>
              <a:rPr lang="es-PE" dirty="0" err="1"/>
              <a:t>menuP</a:t>
            </a:r>
            <a:r>
              <a:rPr lang="es-PE" dirty="0"/>
              <a:t>()</a:t>
            </a:r>
          </a:p>
          <a:p>
            <a:r>
              <a:rPr lang="es-PE" dirty="0"/>
              <a:t>    </a:t>
            </a:r>
            <a:r>
              <a:rPr lang="es-PE" dirty="0" err="1"/>
              <a:t>else</a:t>
            </a:r>
            <a:r>
              <a:rPr lang="es-PE" dirty="0"/>
              <a:t>:</a:t>
            </a:r>
          </a:p>
          <a:p>
            <a:r>
              <a:rPr lang="es-PE" dirty="0"/>
              <a:t>        </a:t>
            </a:r>
            <a:r>
              <a:rPr lang="es-PE" dirty="0" err="1"/>
              <a:t>exit</a:t>
            </a:r>
            <a:r>
              <a:rPr lang="es-PE" dirty="0"/>
              <a:t>()</a:t>
            </a:r>
          </a:p>
          <a:p>
            <a:r>
              <a:rPr lang="es-PE" dirty="0" err="1"/>
              <a:t>if</a:t>
            </a:r>
            <a:r>
              <a:rPr lang="es-PE" dirty="0"/>
              <a:t> __</a:t>
            </a:r>
            <a:r>
              <a:rPr lang="es-PE" dirty="0" err="1"/>
              <a:t>name</a:t>
            </a:r>
            <a:r>
              <a:rPr lang="es-PE" dirty="0"/>
              <a:t>__=='__</a:t>
            </a:r>
            <a:r>
              <a:rPr lang="es-PE" dirty="0" err="1"/>
              <a:t>main</a:t>
            </a:r>
            <a:r>
              <a:rPr lang="es-PE" dirty="0"/>
              <a:t>__':</a:t>
            </a:r>
          </a:p>
          <a:p>
            <a:r>
              <a:rPr lang="es-PE" dirty="0"/>
              <a:t>    </a:t>
            </a:r>
            <a:r>
              <a:rPr lang="es-PE" dirty="0" err="1"/>
              <a:t>menuP</a:t>
            </a:r>
            <a:r>
              <a:rPr lang="es-PE" dirty="0"/>
              <a:t>()</a:t>
            </a:r>
          </a:p>
          <a:p>
            <a:endParaRPr lang="es-PE" dirty="0"/>
          </a:p>
          <a:p>
            <a:endParaRPr lang="es-PE" dirty="0"/>
          </a:p>
          <a:p>
            <a:r>
              <a:rPr lang="es-PE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15329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2748756" y="5691872"/>
            <a:ext cx="6767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748756" y="248467"/>
            <a:ext cx="7736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00"/>
                </a:solidFill>
              </a:rPr>
              <a:t>    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60E4F1-CCA6-4494-8F31-C4A06AC4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8E8FC-BE1D-41C0-9546-F7B72FFE586A}" type="slidenum">
              <a:rPr lang="en-US" smtClean="0"/>
              <a:t>29</a:t>
            </a:fld>
            <a:endParaRPr lang="en-US"/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42D37FF6-CE10-43CB-8767-97EED7917824}"/>
              </a:ext>
            </a:extLst>
          </p:cNvPr>
          <p:cNvSpPr txBox="1">
            <a:spLocks/>
          </p:cNvSpPr>
          <p:nvPr/>
        </p:nvSpPr>
        <p:spPr>
          <a:xfrm>
            <a:off x="8745582" y="65298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8E8FC-BE1D-41C0-9546-F7B72FFE586A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72CB38-A818-4A2A-B1F2-2D99645C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5462"/>
            <a:ext cx="12192000" cy="700115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D9E6FC4-121B-49F6-9078-85164DB0D486}"/>
              </a:ext>
            </a:extLst>
          </p:cNvPr>
          <p:cNvSpPr txBox="1"/>
          <p:nvPr/>
        </p:nvSpPr>
        <p:spPr>
          <a:xfrm>
            <a:off x="1267098" y="-309771"/>
            <a:ext cx="7736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PE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813782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</TotalTime>
  <Words>1808</Words>
  <Application>Microsoft Office PowerPoint</Application>
  <PresentationFormat>Panorámica</PresentationFormat>
  <Paragraphs>354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Google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55</cp:revision>
  <dcterms:created xsi:type="dcterms:W3CDTF">2025-05-12T21:15:50Z</dcterms:created>
  <dcterms:modified xsi:type="dcterms:W3CDTF">2025-05-14T22:21:55Z</dcterms:modified>
</cp:coreProperties>
</file>